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Central media rights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483.9</c:v>
                </c:pt>
                <c:pt idx="1">
                  <c:v>483.9</c:v>
                </c:pt>
                <c:pt idx="2">
                  <c:v>483.9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Central sponsorship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40.0</c:v>
                </c:pt>
                <c:pt idx="1">
                  <c:v>40.0</c:v>
                </c:pt>
                <c:pt idx="2">
                  <c:v>40.0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Team sponsorship, tickets, merchandise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110.3</c:v>
                </c:pt>
                <c:pt idx="1">
                  <c:v>114.5</c:v>
                </c:pt>
                <c:pt idx="2">
                  <c:v>122.5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Prize money</c:v>
                </c:pt>
              </c:strCache>
            </c:strRef>
          </c:tx>
          <c:spPr>
            <a:solidFill>
              <a:srgbClr val="EDA100"/>
            </a:solidFill>
          </c:spPr>
          <c:cat>
            <c:strRef>
              <c:f>Sheet1!$A$2:$A$4</c:f>
              <c:strCache>
                <c:ptCount val="3"/>
                <c:pt idx="0">
                  <c:v>Missed playoffs</c:v>
                </c:pt>
                <c:pt idx="1">
                  <c:v>Made playoffs</c:v>
                </c:pt>
                <c:pt idx="2">
                  <c:v>Won title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0.0</c:v>
                </c:pt>
                <c:pt idx="1">
                  <c:v>8.7</c:v>
                </c:pt>
                <c:pt idx="2">
                  <c:v>20.0</c:v>
                </c:pt>
              </c:numCache>
            </c:numRef>
          </c:val>
        </c:ser>
        <c:dLbls>
          <c:numFmt formatCode="0;;;" sourceLinked="0"/>
          <c:txPr>
            <a:bodyPr/>
            <a:lstStyle/>
            <a:p>
              <a:pPr>
                <a:defRPr sz="10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9525">
              <a:solidFill>
                <a:srgbClr val="DDE1E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1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2737"/>
                </a:solidFill>
              </a:rPr>
              <a:t>Top 12 players by Impact Score going into 2027 (runs/match)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Impact Score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Sheet1!$A$2:$A$13</c:f>
              <c:strCache>
                <c:ptCount val="12"/>
                <c:pt idx="0">
                  <c:v>Shubman Gill (GT)</c:v>
                </c:pt>
                <c:pt idx="1">
                  <c:v>Heinrich Klaasen (SRH)</c:v>
                </c:pt>
                <c:pt idx="2">
                  <c:v>Mohsin Khan (LSG)</c:v>
                </c:pt>
                <c:pt idx="3">
                  <c:v>Sai Sudharsan (GT)</c:v>
                </c:pt>
                <c:pt idx="4">
                  <c:v>Abhishek Sharma (SRH)</c:v>
                </c:pt>
                <c:pt idx="5">
                  <c:v>Virat Kohli (RCB)</c:v>
                </c:pt>
                <c:pt idx="6">
                  <c:v>Jason Holder (GT)</c:v>
                </c:pt>
                <c:pt idx="7">
                  <c:v>Jasprit Bumrah (MI)</c:v>
                </c:pt>
                <c:pt idx="8">
                  <c:v>Josh Inglis (LSG)</c:v>
                </c:pt>
                <c:pt idx="9">
                  <c:v>Bhuvneshwar Kumar (RCB)</c:v>
                </c:pt>
                <c:pt idx="10">
                  <c:v>Sunil Narine (KKR)</c:v>
                </c:pt>
                <c:pt idx="11">
                  <c:v>Vaibhav Sooryavanshi (RR)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3.7</c:v>
                </c:pt>
                <c:pt idx="1">
                  <c:v>3.8</c:v>
                </c:pt>
                <c:pt idx="2">
                  <c:v>3.8</c:v>
                </c:pt>
                <c:pt idx="3">
                  <c:v>4.2</c:v>
                </c:pt>
                <c:pt idx="4">
                  <c:v>4.4</c:v>
                </c:pt>
                <c:pt idx="5">
                  <c:v>4.5</c:v>
                </c:pt>
                <c:pt idx="6">
                  <c:v>4.7</c:v>
                </c:pt>
                <c:pt idx="7">
                  <c:v>4.8</c:v>
                </c:pt>
                <c:pt idx="8">
                  <c:v>5.1</c:v>
                </c:pt>
                <c:pt idx="9">
                  <c:v>6.2</c:v>
                </c:pt>
                <c:pt idx="10">
                  <c:v>6.3</c:v>
                </c:pt>
                <c:pt idx="11">
                  <c:v>9.3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Near fair value (n=127)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B5B3AD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Sheet1!$A$2:$A$128</c:f>
              <c:numCache>
                <c:formatCode>General</c:formatCode>
                <c:ptCount val="127"/>
                <c:pt idx="0">
                  <c:v>2.61</c:v>
                </c:pt>
                <c:pt idx="1">
                  <c:v>0.0</c:v>
                </c:pt>
                <c:pt idx="2">
                  <c:v>1.55</c:v>
                </c:pt>
                <c:pt idx="3">
                  <c:v>0.48</c:v>
                </c:pt>
                <c:pt idx="4">
                  <c:v>3.3</c:v>
                </c:pt>
                <c:pt idx="5">
                  <c:v>0.89</c:v>
                </c:pt>
                <c:pt idx="6">
                  <c:v>1.87</c:v>
                </c:pt>
                <c:pt idx="7">
                  <c:v>2.37</c:v>
                </c:pt>
                <c:pt idx="8">
                  <c:v>0.99</c:v>
                </c:pt>
                <c:pt idx="9">
                  <c:v>0.02</c:v>
                </c:pt>
                <c:pt idx="10">
                  <c:v>-0.28</c:v>
                </c:pt>
                <c:pt idx="11">
                  <c:v>0.57</c:v>
                </c:pt>
                <c:pt idx="12">
                  <c:v>0.77</c:v>
                </c:pt>
                <c:pt idx="13">
                  <c:v>1.38</c:v>
                </c:pt>
                <c:pt idx="14">
                  <c:v>-0.49</c:v>
                </c:pt>
                <c:pt idx="15">
                  <c:v>-0.12</c:v>
                </c:pt>
                <c:pt idx="16">
                  <c:v>3.77</c:v>
                </c:pt>
                <c:pt idx="17">
                  <c:v>-0.49</c:v>
                </c:pt>
                <c:pt idx="18">
                  <c:v>-0.65</c:v>
                </c:pt>
                <c:pt idx="19">
                  <c:v>1.7</c:v>
                </c:pt>
                <c:pt idx="20">
                  <c:v>0.27</c:v>
                </c:pt>
                <c:pt idx="21">
                  <c:v>-0.79</c:v>
                </c:pt>
                <c:pt idx="22">
                  <c:v>-1.98</c:v>
                </c:pt>
                <c:pt idx="23">
                  <c:v>1.07</c:v>
                </c:pt>
                <c:pt idx="24">
                  <c:v>2.47</c:v>
                </c:pt>
                <c:pt idx="25">
                  <c:v>-1.68</c:v>
                </c:pt>
                <c:pt idx="26">
                  <c:v>0.41</c:v>
                </c:pt>
                <c:pt idx="27">
                  <c:v>1.38</c:v>
                </c:pt>
                <c:pt idx="28">
                  <c:v>-5.98</c:v>
                </c:pt>
                <c:pt idx="29">
                  <c:v>-1.42</c:v>
                </c:pt>
                <c:pt idx="30">
                  <c:v>-1.76</c:v>
                </c:pt>
                <c:pt idx="31">
                  <c:v>0.7</c:v>
                </c:pt>
                <c:pt idx="32">
                  <c:v>-0.26</c:v>
                </c:pt>
                <c:pt idx="33">
                  <c:v>-3.17</c:v>
                </c:pt>
                <c:pt idx="34">
                  <c:v>-0.46</c:v>
                </c:pt>
                <c:pt idx="35">
                  <c:v>-1.34</c:v>
                </c:pt>
                <c:pt idx="36">
                  <c:v>-2.57</c:v>
                </c:pt>
                <c:pt idx="37">
                  <c:v>-0.53</c:v>
                </c:pt>
                <c:pt idx="38">
                  <c:v>0.22</c:v>
                </c:pt>
                <c:pt idx="39">
                  <c:v>-1.64</c:v>
                </c:pt>
                <c:pt idx="40">
                  <c:v>-2.22</c:v>
                </c:pt>
                <c:pt idx="41">
                  <c:v>-2.13</c:v>
                </c:pt>
                <c:pt idx="42">
                  <c:v>-0.65</c:v>
                </c:pt>
                <c:pt idx="43">
                  <c:v>-3.67</c:v>
                </c:pt>
                <c:pt idx="44">
                  <c:v>-0.74</c:v>
                </c:pt>
                <c:pt idx="45">
                  <c:v>-0.04</c:v>
                </c:pt>
                <c:pt idx="46">
                  <c:v>-0.73</c:v>
                </c:pt>
                <c:pt idx="47">
                  <c:v>-1.51</c:v>
                </c:pt>
                <c:pt idx="48">
                  <c:v>-5.03</c:v>
                </c:pt>
                <c:pt idx="49">
                  <c:v>-2.14</c:v>
                </c:pt>
                <c:pt idx="50">
                  <c:v>-4.29</c:v>
                </c:pt>
                <c:pt idx="51">
                  <c:v>-5.19</c:v>
                </c:pt>
                <c:pt idx="52">
                  <c:v>-0.94</c:v>
                </c:pt>
                <c:pt idx="53">
                  <c:v>0.14</c:v>
                </c:pt>
                <c:pt idx="54">
                  <c:v>-3.11</c:v>
                </c:pt>
                <c:pt idx="55">
                  <c:v>-0.03</c:v>
                </c:pt>
                <c:pt idx="56">
                  <c:v>-2.16</c:v>
                </c:pt>
                <c:pt idx="57">
                  <c:v>-0.89</c:v>
                </c:pt>
                <c:pt idx="58">
                  <c:v>-0.94</c:v>
                </c:pt>
                <c:pt idx="59">
                  <c:v>-2.18</c:v>
                </c:pt>
                <c:pt idx="60">
                  <c:v>0.03</c:v>
                </c:pt>
                <c:pt idx="61">
                  <c:v>-1.82</c:v>
                </c:pt>
                <c:pt idx="62">
                  <c:v>-2.59</c:v>
                </c:pt>
                <c:pt idx="63">
                  <c:v>-1.23</c:v>
                </c:pt>
                <c:pt idx="64">
                  <c:v>-0.78</c:v>
                </c:pt>
                <c:pt idx="65">
                  <c:v>-3.29</c:v>
                </c:pt>
                <c:pt idx="66">
                  <c:v>1.16</c:v>
                </c:pt>
                <c:pt idx="67">
                  <c:v>0.47</c:v>
                </c:pt>
                <c:pt idx="68">
                  <c:v>4.65</c:v>
                </c:pt>
                <c:pt idx="69">
                  <c:v>4.47</c:v>
                </c:pt>
                <c:pt idx="70">
                  <c:v>5.93</c:v>
                </c:pt>
                <c:pt idx="71">
                  <c:v>-1.53</c:v>
                </c:pt>
                <c:pt idx="72">
                  <c:v>-2.41</c:v>
                </c:pt>
                <c:pt idx="73">
                  <c:v>-0.29</c:v>
                </c:pt>
                <c:pt idx="74">
                  <c:v>-1.69</c:v>
                </c:pt>
                <c:pt idx="75">
                  <c:v>1.92</c:v>
                </c:pt>
                <c:pt idx="76">
                  <c:v>0.22</c:v>
                </c:pt>
                <c:pt idx="77">
                  <c:v>-0.88</c:v>
                </c:pt>
                <c:pt idx="78">
                  <c:v>-0.08</c:v>
                </c:pt>
                <c:pt idx="79">
                  <c:v>-1.03</c:v>
                </c:pt>
                <c:pt idx="80">
                  <c:v>3.22</c:v>
                </c:pt>
                <c:pt idx="81">
                  <c:v>0.02</c:v>
                </c:pt>
                <c:pt idx="82">
                  <c:v>3.4</c:v>
                </c:pt>
                <c:pt idx="83">
                  <c:v>1.33</c:v>
                </c:pt>
                <c:pt idx="84">
                  <c:v>1.12</c:v>
                </c:pt>
                <c:pt idx="85">
                  <c:v>0.26</c:v>
                </c:pt>
                <c:pt idx="86">
                  <c:v>1.73</c:v>
                </c:pt>
                <c:pt idx="87">
                  <c:v>1.28</c:v>
                </c:pt>
                <c:pt idx="88">
                  <c:v>-0.41</c:v>
                </c:pt>
                <c:pt idx="89">
                  <c:v>-0.23</c:v>
                </c:pt>
                <c:pt idx="90">
                  <c:v>-0.85</c:v>
                </c:pt>
                <c:pt idx="91">
                  <c:v>0.22</c:v>
                </c:pt>
                <c:pt idx="92">
                  <c:v>-0.18</c:v>
                </c:pt>
                <c:pt idx="93">
                  <c:v>0.03</c:v>
                </c:pt>
                <c:pt idx="94">
                  <c:v>0.01</c:v>
                </c:pt>
                <c:pt idx="95">
                  <c:v>-0.98</c:v>
                </c:pt>
                <c:pt idx="96">
                  <c:v>-2.38</c:v>
                </c:pt>
                <c:pt idx="97">
                  <c:v>-0.51</c:v>
                </c:pt>
                <c:pt idx="98">
                  <c:v>-2.12</c:v>
                </c:pt>
                <c:pt idx="99">
                  <c:v>-4.12</c:v>
                </c:pt>
                <c:pt idx="100">
                  <c:v>-0.48</c:v>
                </c:pt>
                <c:pt idx="101">
                  <c:v>0.52</c:v>
                </c:pt>
                <c:pt idx="102">
                  <c:v>-2.13</c:v>
                </c:pt>
                <c:pt idx="103">
                  <c:v>1.62</c:v>
                </c:pt>
                <c:pt idx="104">
                  <c:v>-1.03</c:v>
                </c:pt>
                <c:pt idx="105">
                  <c:v>0.15</c:v>
                </c:pt>
                <c:pt idx="106">
                  <c:v>-1.41</c:v>
                </c:pt>
                <c:pt idx="107">
                  <c:v>-2.73</c:v>
                </c:pt>
                <c:pt idx="108">
                  <c:v>-2.79</c:v>
                </c:pt>
                <c:pt idx="109">
                  <c:v>0.69</c:v>
                </c:pt>
                <c:pt idx="110">
                  <c:v>-1.02</c:v>
                </c:pt>
                <c:pt idx="111">
                  <c:v>1.44</c:v>
                </c:pt>
                <c:pt idx="112">
                  <c:v>-1.04</c:v>
                </c:pt>
                <c:pt idx="113">
                  <c:v>-1.76</c:v>
                </c:pt>
                <c:pt idx="114">
                  <c:v>-0.56</c:v>
                </c:pt>
                <c:pt idx="115">
                  <c:v>-0.59</c:v>
                </c:pt>
                <c:pt idx="116">
                  <c:v>-0.7</c:v>
                </c:pt>
                <c:pt idx="117">
                  <c:v>-0.17</c:v>
                </c:pt>
                <c:pt idx="118">
                  <c:v>-2.21</c:v>
                </c:pt>
                <c:pt idx="119">
                  <c:v>-3.82</c:v>
                </c:pt>
                <c:pt idx="120">
                  <c:v>-1.83</c:v>
                </c:pt>
                <c:pt idx="121">
                  <c:v>-3.27</c:v>
                </c:pt>
                <c:pt idx="122">
                  <c:v>0.1</c:v>
                </c:pt>
                <c:pt idx="123">
                  <c:v>-3.23</c:v>
                </c:pt>
                <c:pt idx="124">
                  <c:v>-1.98</c:v>
                </c:pt>
                <c:pt idx="125">
                  <c:v>0.41</c:v>
                </c:pt>
                <c:pt idx="126">
                  <c:v>1.78</c:v>
                </c:pt>
              </c:numCache>
            </c:numRef>
          </c:xVal>
          <c:yVal>
            <c:numRef>
              <c:f>Sheet1!$B$2:$B$128</c:f>
              <c:numCache>
                <c:formatCode>General</c:formatCode>
                <c:ptCount val="127"/>
                <c:pt idx="0">
                  <c:v>8.25</c:v>
                </c:pt>
                <c:pt idx="1">
                  <c:v>5.0</c:v>
                </c:pt>
                <c:pt idx="2">
                  <c:v>8.0</c:v>
                </c:pt>
                <c:pt idx="3">
                  <c:v>6.25</c:v>
                </c:pt>
                <c:pt idx="4">
                  <c:v>7.0</c:v>
                </c:pt>
                <c:pt idx="5">
                  <c:v>6.75</c:v>
                </c:pt>
                <c:pt idx="6">
                  <c:v>6.25</c:v>
                </c:pt>
                <c:pt idx="7">
                  <c:v>4.6</c:v>
                </c:pt>
                <c:pt idx="8">
                  <c:v>8.5</c:v>
                </c:pt>
                <c:pt idx="9">
                  <c:v>2.0</c:v>
                </c:pt>
                <c:pt idx="10">
                  <c:v>2.0</c:v>
                </c:pt>
                <c:pt idx="11">
                  <c:v>7.75</c:v>
                </c:pt>
                <c:pt idx="12">
                  <c:v>4.4</c:v>
                </c:pt>
                <c:pt idx="13">
                  <c:v>8.75</c:v>
                </c:pt>
                <c:pt idx="14">
                  <c:v>5.75</c:v>
                </c:pt>
                <c:pt idx="15">
                  <c:v>6.75</c:v>
                </c:pt>
                <c:pt idx="16">
                  <c:v>6.75</c:v>
                </c:pt>
                <c:pt idx="17">
                  <c:v>5.5</c:v>
                </c:pt>
                <c:pt idx="18">
                  <c:v>4.0</c:v>
                </c:pt>
                <c:pt idx="19">
                  <c:v>10.0</c:v>
                </c:pt>
                <c:pt idx="20">
                  <c:v>4.2</c:v>
                </c:pt>
                <c:pt idx="21">
                  <c:v>2.0</c:v>
                </c:pt>
                <c:pt idx="22">
                  <c:v>2.0</c:v>
                </c:pt>
                <c:pt idx="23">
                  <c:v>5.25</c:v>
                </c:pt>
                <c:pt idx="24">
                  <c:v>6.5</c:v>
                </c:pt>
                <c:pt idx="25">
                  <c:v>1.1</c:v>
                </c:pt>
                <c:pt idx="26">
                  <c:v>2.4</c:v>
                </c:pt>
                <c:pt idx="27">
                  <c:v>2.0</c:v>
                </c:pt>
                <c:pt idx="28">
                  <c:v>0.5</c:v>
                </c:pt>
                <c:pt idx="29">
                  <c:v>1.6</c:v>
                </c:pt>
                <c:pt idx="30">
                  <c:v>0.75</c:v>
                </c:pt>
                <c:pt idx="31">
                  <c:v>2.6</c:v>
                </c:pt>
                <c:pt idx="32">
                  <c:v>4.0</c:v>
                </c:pt>
                <c:pt idx="33">
                  <c:v>0.9</c:v>
                </c:pt>
                <c:pt idx="34">
                  <c:v>5.25</c:v>
                </c:pt>
                <c:pt idx="35">
                  <c:v>4.2</c:v>
                </c:pt>
                <c:pt idx="36">
                  <c:v>1.3</c:v>
                </c:pt>
                <c:pt idx="37">
                  <c:v>0.65</c:v>
                </c:pt>
                <c:pt idx="38">
                  <c:v>0.95</c:v>
                </c:pt>
                <c:pt idx="39">
                  <c:v>2.6</c:v>
                </c:pt>
                <c:pt idx="40">
                  <c:v>1.9</c:v>
                </c:pt>
                <c:pt idx="41">
                  <c:v>0.5</c:v>
                </c:pt>
                <c:pt idx="42">
                  <c:v>2.4</c:v>
                </c:pt>
                <c:pt idx="43">
                  <c:v>1.0</c:v>
                </c:pt>
                <c:pt idx="44">
                  <c:v>3.0</c:v>
                </c:pt>
                <c:pt idx="45">
                  <c:v>1.9</c:v>
                </c:pt>
                <c:pt idx="46">
                  <c:v>3.6</c:v>
                </c:pt>
                <c:pt idx="47">
                  <c:v>1.5</c:v>
                </c:pt>
                <c:pt idx="48">
                  <c:v>2.0</c:v>
                </c:pt>
                <c:pt idx="49">
                  <c:v>2.0</c:v>
                </c:pt>
                <c:pt idx="50">
                  <c:v>0.5</c:v>
                </c:pt>
                <c:pt idx="51">
                  <c:v>1.5</c:v>
                </c:pt>
                <c:pt idx="52">
                  <c:v>0.9</c:v>
                </c:pt>
                <c:pt idx="53">
                  <c:v>1.2</c:v>
                </c:pt>
                <c:pt idx="54">
                  <c:v>0.6</c:v>
                </c:pt>
                <c:pt idx="55">
                  <c:v>2.4</c:v>
                </c:pt>
                <c:pt idx="56">
                  <c:v>1.0</c:v>
                </c:pt>
                <c:pt idx="57">
                  <c:v>1.5</c:v>
                </c:pt>
                <c:pt idx="58">
                  <c:v>1.5</c:v>
                </c:pt>
                <c:pt idx="59">
                  <c:v>4.0</c:v>
                </c:pt>
                <c:pt idx="60">
                  <c:v>7.4</c:v>
                </c:pt>
                <c:pt idx="61">
                  <c:v>4.0</c:v>
                </c:pt>
                <c:pt idx="62">
                  <c:v>1.6</c:v>
                </c:pt>
                <c:pt idx="63">
                  <c:v>2.0</c:v>
                </c:pt>
                <c:pt idx="64">
                  <c:v>2.0</c:v>
                </c:pt>
                <c:pt idx="65">
                  <c:v>1.5</c:v>
                </c:pt>
                <c:pt idx="66">
                  <c:v>8.75</c:v>
                </c:pt>
                <c:pt idx="67">
                  <c:v>7.5</c:v>
                </c:pt>
                <c:pt idx="68">
                  <c:v>10.0</c:v>
                </c:pt>
                <c:pt idx="69">
                  <c:v>6.25</c:v>
                </c:pt>
                <c:pt idx="70">
                  <c:v>9.0</c:v>
                </c:pt>
                <c:pt idx="71">
                  <c:v>2.0</c:v>
                </c:pt>
                <c:pt idx="72">
                  <c:v>2.0</c:v>
                </c:pt>
                <c:pt idx="73">
                  <c:v>3.4</c:v>
                </c:pt>
                <c:pt idx="74">
                  <c:v>3.4</c:v>
                </c:pt>
                <c:pt idx="75">
                  <c:v>4.2</c:v>
                </c:pt>
                <c:pt idx="76">
                  <c:v>8.0</c:v>
                </c:pt>
                <c:pt idx="77">
                  <c:v>4.0</c:v>
                </c:pt>
                <c:pt idx="78">
                  <c:v>3.6</c:v>
                </c:pt>
                <c:pt idx="79">
                  <c:v>2.0</c:v>
                </c:pt>
                <c:pt idx="80">
                  <c:v>11.5</c:v>
                </c:pt>
                <c:pt idx="81">
                  <c:v>4.8</c:v>
                </c:pt>
                <c:pt idx="82">
                  <c:v>12.5</c:v>
                </c:pt>
                <c:pt idx="83">
                  <c:v>9.5</c:v>
                </c:pt>
                <c:pt idx="84">
                  <c:v>10.0</c:v>
                </c:pt>
                <c:pt idx="85">
                  <c:v>3.2</c:v>
                </c:pt>
                <c:pt idx="86">
                  <c:v>5.25</c:v>
                </c:pt>
                <c:pt idx="87">
                  <c:v>4.4</c:v>
                </c:pt>
                <c:pt idx="88">
                  <c:v>1.5</c:v>
                </c:pt>
                <c:pt idx="89">
                  <c:v>1.7</c:v>
                </c:pt>
                <c:pt idx="90">
                  <c:v>1.2</c:v>
                </c:pt>
                <c:pt idx="91">
                  <c:v>1.8</c:v>
                </c:pt>
                <c:pt idx="92">
                  <c:v>1.2</c:v>
                </c:pt>
                <c:pt idx="93">
                  <c:v>2.2</c:v>
                </c:pt>
                <c:pt idx="94">
                  <c:v>1.5</c:v>
                </c:pt>
                <c:pt idx="95">
                  <c:v>1.6</c:v>
                </c:pt>
                <c:pt idx="96">
                  <c:v>1.8</c:v>
                </c:pt>
                <c:pt idx="97">
                  <c:v>2.6</c:v>
                </c:pt>
                <c:pt idx="98">
                  <c:v>0.5</c:v>
                </c:pt>
                <c:pt idx="99">
                  <c:v>2.4</c:v>
                </c:pt>
                <c:pt idx="100">
                  <c:v>5.75</c:v>
                </c:pt>
                <c:pt idx="101">
                  <c:v>4.2</c:v>
                </c:pt>
                <c:pt idx="102">
                  <c:v>3.2</c:v>
                </c:pt>
                <c:pt idx="103">
                  <c:v>9.25</c:v>
                </c:pt>
                <c:pt idx="104">
                  <c:v>2.4</c:v>
                </c:pt>
                <c:pt idx="105">
                  <c:v>6.5</c:v>
                </c:pt>
                <c:pt idx="106">
                  <c:v>2.0</c:v>
                </c:pt>
                <c:pt idx="107">
                  <c:v>1.3</c:v>
                </c:pt>
                <c:pt idx="108">
                  <c:v>2.4</c:v>
                </c:pt>
                <c:pt idx="109">
                  <c:v>3.0</c:v>
                </c:pt>
                <c:pt idx="110">
                  <c:v>1.7</c:v>
                </c:pt>
                <c:pt idx="111">
                  <c:v>5.25</c:v>
                </c:pt>
                <c:pt idx="112">
                  <c:v>2.4</c:v>
                </c:pt>
                <c:pt idx="113">
                  <c:v>1.5</c:v>
                </c:pt>
                <c:pt idx="114">
                  <c:v>2.8</c:v>
                </c:pt>
                <c:pt idx="115">
                  <c:v>2.0</c:v>
                </c:pt>
                <c:pt idx="116">
                  <c:v>2.0</c:v>
                </c:pt>
                <c:pt idx="117">
                  <c:v>2.0</c:v>
                </c:pt>
                <c:pt idx="118">
                  <c:v>2.0</c:v>
                </c:pt>
                <c:pt idx="119">
                  <c:v>1.0</c:v>
                </c:pt>
                <c:pt idx="120">
                  <c:v>2.0</c:v>
                </c:pt>
                <c:pt idx="121">
                  <c:v>2.0</c:v>
                </c:pt>
                <c:pt idx="122">
                  <c:v>5.2</c:v>
                </c:pt>
                <c:pt idx="123">
                  <c:v>0.3</c:v>
                </c:pt>
                <c:pt idx="124">
                  <c:v>1.5</c:v>
                </c:pt>
                <c:pt idx="125">
                  <c:v>2.0</c:v>
                </c:pt>
                <c:pt idx="126">
                  <c:v>9.2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Sheet1!$B$130</c:f>
              <c:strCache>
                <c:ptCount val="1"/>
                <c:pt idx="0">
                  <c:v>Overpriced (paid &gt; 2x fair) (n=78)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C83A3A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Sheet1!$A$131:$A$208</c:f>
              <c:numCache>
                <c:formatCode>General</c:formatCode>
                <c:ptCount val="78"/>
                <c:pt idx="0">
                  <c:v>-0.92</c:v>
                </c:pt>
                <c:pt idx="1">
                  <c:v>0.72</c:v>
                </c:pt>
                <c:pt idx="2">
                  <c:v>-1.14</c:v>
                </c:pt>
                <c:pt idx="3">
                  <c:v>0.45</c:v>
                </c:pt>
                <c:pt idx="4">
                  <c:v>0.25</c:v>
                </c:pt>
                <c:pt idx="5">
                  <c:v>-0.07</c:v>
                </c:pt>
                <c:pt idx="6">
                  <c:v>-1.27</c:v>
                </c:pt>
                <c:pt idx="7">
                  <c:v>2.58</c:v>
                </c:pt>
                <c:pt idx="8">
                  <c:v>0.42</c:v>
                </c:pt>
                <c:pt idx="9">
                  <c:v>0.88</c:v>
                </c:pt>
                <c:pt idx="10">
                  <c:v>-2.92</c:v>
                </c:pt>
                <c:pt idx="11">
                  <c:v>-0.09</c:v>
                </c:pt>
                <c:pt idx="12">
                  <c:v>-0.33</c:v>
                </c:pt>
                <c:pt idx="13">
                  <c:v>0.5</c:v>
                </c:pt>
                <c:pt idx="14">
                  <c:v>-1.37</c:v>
                </c:pt>
                <c:pt idx="15">
                  <c:v>-0.26</c:v>
                </c:pt>
                <c:pt idx="16">
                  <c:v>0.19</c:v>
                </c:pt>
                <c:pt idx="17">
                  <c:v>1.87</c:v>
                </c:pt>
                <c:pt idx="18">
                  <c:v>-1.8</c:v>
                </c:pt>
                <c:pt idx="19">
                  <c:v>-0.44</c:v>
                </c:pt>
                <c:pt idx="20">
                  <c:v>-2.29</c:v>
                </c:pt>
                <c:pt idx="21">
                  <c:v>1.14</c:v>
                </c:pt>
                <c:pt idx="22">
                  <c:v>-1.18</c:v>
                </c:pt>
                <c:pt idx="23">
                  <c:v>1.54</c:v>
                </c:pt>
                <c:pt idx="24">
                  <c:v>-2.72</c:v>
                </c:pt>
                <c:pt idx="25">
                  <c:v>-0.72</c:v>
                </c:pt>
                <c:pt idx="26">
                  <c:v>-0.13</c:v>
                </c:pt>
                <c:pt idx="27">
                  <c:v>0.55</c:v>
                </c:pt>
                <c:pt idx="28">
                  <c:v>-1.32</c:v>
                </c:pt>
                <c:pt idx="29">
                  <c:v>-2.21</c:v>
                </c:pt>
                <c:pt idx="30">
                  <c:v>0.3</c:v>
                </c:pt>
                <c:pt idx="31">
                  <c:v>-1.86</c:v>
                </c:pt>
                <c:pt idx="32">
                  <c:v>-1.34</c:v>
                </c:pt>
                <c:pt idx="33">
                  <c:v>-1.81</c:v>
                </c:pt>
                <c:pt idx="34">
                  <c:v>-0.45</c:v>
                </c:pt>
                <c:pt idx="35">
                  <c:v>-2.6</c:v>
                </c:pt>
                <c:pt idx="36">
                  <c:v>-2.88</c:v>
                </c:pt>
                <c:pt idx="37">
                  <c:v>-5.19</c:v>
                </c:pt>
                <c:pt idx="38">
                  <c:v>-0.32</c:v>
                </c:pt>
                <c:pt idx="39">
                  <c:v>1.79</c:v>
                </c:pt>
                <c:pt idx="40">
                  <c:v>0.88</c:v>
                </c:pt>
                <c:pt idx="41">
                  <c:v>2.81</c:v>
                </c:pt>
                <c:pt idx="42">
                  <c:v>0.38</c:v>
                </c:pt>
                <c:pt idx="43">
                  <c:v>-0.22</c:v>
                </c:pt>
                <c:pt idx="44">
                  <c:v>0.26</c:v>
                </c:pt>
                <c:pt idx="45">
                  <c:v>1.17</c:v>
                </c:pt>
                <c:pt idx="46">
                  <c:v>1.07</c:v>
                </c:pt>
                <c:pt idx="47">
                  <c:v>0.65</c:v>
                </c:pt>
                <c:pt idx="48">
                  <c:v>-2.18</c:v>
                </c:pt>
                <c:pt idx="49">
                  <c:v>0.08</c:v>
                </c:pt>
                <c:pt idx="50">
                  <c:v>0.94</c:v>
                </c:pt>
                <c:pt idx="51">
                  <c:v>0.62</c:v>
                </c:pt>
                <c:pt idx="52">
                  <c:v>0.05</c:v>
                </c:pt>
                <c:pt idx="53">
                  <c:v>-0.13</c:v>
                </c:pt>
                <c:pt idx="54">
                  <c:v>-4.44</c:v>
                </c:pt>
                <c:pt idx="55">
                  <c:v>1.64</c:v>
                </c:pt>
                <c:pt idx="56">
                  <c:v>0.25</c:v>
                </c:pt>
                <c:pt idx="57">
                  <c:v>0.8</c:v>
                </c:pt>
                <c:pt idx="58">
                  <c:v>-3.35</c:v>
                </c:pt>
                <c:pt idx="59">
                  <c:v>-0.72</c:v>
                </c:pt>
                <c:pt idx="60">
                  <c:v>-0.17</c:v>
                </c:pt>
                <c:pt idx="61">
                  <c:v>-0.55</c:v>
                </c:pt>
                <c:pt idx="62">
                  <c:v>-1.29</c:v>
                </c:pt>
                <c:pt idx="63">
                  <c:v>-0.28</c:v>
                </c:pt>
                <c:pt idx="64">
                  <c:v>0.2</c:v>
                </c:pt>
                <c:pt idx="65">
                  <c:v>-2.15</c:v>
                </c:pt>
                <c:pt idx="66">
                  <c:v>-3.22</c:v>
                </c:pt>
                <c:pt idx="67">
                  <c:v>-2.99</c:v>
                </c:pt>
                <c:pt idx="68">
                  <c:v>0.36</c:v>
                </c:pt>
                <c:pt idx="69">
                  <c:v>-1.15</c:v>
                </c:pt>
                <c:pt idx="70">
                  <c:v>-3.3</c:v>
                </c:pt>
                <c:pt idx="71">
                  <c:v>0.85</c:v>
                </c:pt>
                <c:pt idx="72">
                  <c:v>0.48</c:v>
                </c:pt>
                <c:pt idx="73">
                  <c:v>-0.53</c:v>
                </c:pt>
                <c:pt idx="74">
                  <c:v>2.3</c:v>
                </c:pt>
                <c:pt idx="75">
                  <c:v>-1.89</c:v>
                </c:pt>
                <c:pt idx="76">
                  <c:v>-3.36</c:v>
                </c:pt>
                <c:pt idx="77">
                  <c:v>0.21</c:v>
                </c:pt>
              </c:numCache>
            </c:numRef>
          </c:xVal>
          <c:yVal>
            <c:numRef>
              <c:f>Sheet1!$B$131:$B$208</c:f>
              <c:numCache>
                <c:formatCode>General</c:formatCode>
                <c:ptCount val="78"/>
                <c:pt idx="0">
                  <c:v>7.25</c:v>
                </c:pt>
                <c:pt idx="1">
                  <c:v>9.25</c:v>
                </c:pt>
                <c:pt idx="2">
                  <c:v>12.25</c:v>
                </c:pt>
                <c:pt idx="3">
                  <c:v>8.0</c:v>
                </c:pt>
                <c:pt idx="4">
                  <c:v>10.75</c:v>
                </c:pt>
                <c:pt idx="5">
                  <c:v>8.75</c:v>
                </c:pt>
                <c:pt idx="6">
                  <c:v>8.25</c:v>
                </c:pt>
                <c:pt idx="7">
                  <c:v>15.25</c:v>
                </c:pt>
                <c:pt idx="8">
                  <c:v>10.75</c:v>
                </c:pt>
                <c:pt idx="9">
                  <c:v>14.0</c:v>
                </c:pt>
                <c:pt idx="10">
                  <c:v>10.0</c:v>
                </c:pt>
                <c:pt idx="11">
                  <c:v>7.75</c:v>
                </c:pt>
                <c:pt idx="12">
                  <c:v>10.75</c:v>
                </c:pt>
                <c:pt idx="13">
                  <c:v>8.5</c:v>
                </c:pt>
                <c:pt idx="14">
                  <c:v>3.8</c:v>
                </c:pt>
                <c:pt idx="15">
                  <c:v>6.5</c:v>
                </c:pt>
                <c:pt idx="16">
                  <c:v>9.0</c:v>
                </c:pt>
                <c:pt idx="17">
                  <c:v>7.25</c:v>
                </c:pt>
                <c:pt idx="18">
                  <c:v>9.0</c:v>
                </c:pt>
                <c:pt idx="19">
                  <c:v>3.8</c:v>
                </c:pt>
                <c:pt idx="20">
                  <c:v>4.0</c:v>
                </c:pt>
                <c:pt idx="21">
                  <c:v>10.0</c:v>
                </c:pt>
                <c:pt idx="22">
                  <c:v>11.5</c:v>
                </c:pt>
                <c:pt idx="23">
                  <c:v>8.25</c:v>
                </c:pt>
                <c:pt idx="24">
                  <c:v>18.5</c:v>
                </c:pt>
                <c:pt idx="25">
                  <c:v>5.75</c:v>
                </c:pt>
                <c:pt idx="26">
                  <c:v>16.25</c:v>
                </c:pt>
                <c:pt idx="27">
                  <c:v>16.0</c:v>
                </c:pt>
                <c:pt idx="28">
                  <c:v>6.0</c:v>
                </c:pt>
                <c:pt idx="29">
                  <c:v>20.5</c:v>
                </c:pt>
                <c:pt idx="30">
                  <c:v>11.75</c:v>
                </c:pt>
                <c:pt idx="31">
                  <c:v>11.5</c:v>
                </c:pt>
                <c:pt idx="32">
                  <c:v>5.8</c:v>
                </c:pt>
                <c:pt idx="33">
                  <c:v>6.4</c:v>
                </c:pt>
                <c:pt idx="34">
                  <c:v>7.4</c:v>
                </c:pt>
                <c:pt idx="35">
                  <c:v>5.0</c:v>
                </c:pt>
                <c:pt idx="36">
                  <c:v>5.0</c:v>
                </c:pt>
                <c:pt idx="37">
                  <c:v>5.0</c:v>
                </c:pt>
                <c:pt idx="38">
                  <c:v>8.0</c:v>
                </c:pt>
                <c:pt idx="39">
                  <c:v>15.75</c:v>
                </c:pt>
                <c:pt idx="40">
                  <c:v>26.75</c:v>
                </c:pt>
                <c:pt idx="41">
                  <c:v>27.0</c:v>
                </c:pt>
                <c:pt idx="42">
                  <c:v>10.75</c:v>
                </c:pt>
                <c:pt idx="43">
                  <c:v>18.0</c:v>
                </c:pt>
                <c:pt idx="44">
                  <c:v>11.75</c:v>
                </c:pt>
                <c:pt idx="45">
                  <c:v>18.0</c:v>
                </c:pt>
                <c:pt idx="46">
                  <c:v>14.0</c:v>
                </c:pt>
                <c:pt idx="47">
                  <c:v>12.25</c:v>
                </c:pt>
                <c:pt idx="48">
                  <c:v>6.25</c:v>
                </c:pt>
                <c:pt idx="49">
                  <c:v>9.75</c:v>
                </c:pt>
                <c:pt idx="50">
                  <c:v>23.75</c:v>
                </c:pt>
                <c:pt idx="51">
                  <c:v>11.0</c:v>
                </c:pt>
                <c:pt idx="52">
                  <c:v>11.25</c:v>
                </c:pt>
                <c:pt idx="53">
                  <c:v>11.0</c:v>
                </c:pt>
                <c:pt idx="54">
                  <c:v>12.5</c:v>
                </c:pt>
                <c:pt idx="55">
                  <c:v>12.5</c:v>
                </c:pt>
                <c:pt idx="56">
                  <c:v>9.75</c:v>
                </c:pt>
                <c:pt idx="57">
                  <c:v>10.75</c:v>
                </c:pt>
                <c:pt idx="58">
                  <c:v>6.5</c:v>
                </c:pt>
                <c:pt idx="59">
                  <c:v>3.2</c:v>
                </c:pt>
                <c:pt idx="60">
                  <c:v>3.0</c:v>
                </c:pt>
                <c:pt idx="61">
                  <c:v>4.2</c:v>
                </c:pt>
                <c:pt idx="62">
                  <c:v>5.25</c:v>
                </c:pt>
                <c:pt idx="63">
                  <c:v>4.2</c:v>
                </c:pt>
                <c:pt idx="64">
                  <c:v>3.8</c:v>
                </c:pt>
                <c:pt idx="65">
                  <c:v>6.0</c:v>
                </c:pt>
                <c:pt idx="66">
                  <c:v>7.0</c:v>
                </c:pt>
                <c:pt idx="67">
                  <c:v>8.0</c:v>
                </c:pt>
                <c:pt idx="68">
                  <c:v>10.75</c:v>
                </c:pt>
                <c:pt idx="69">
                  <c:v>8.0</c:v>
                </c:pt>
                <c:pt idx="70">
                  <c:v>3.4</c:v>
                </c:pt>
                <c:pt idx="71">
                  <c:v>25.2</c:v>
                </c:pt>
                <c:pt idx="72">
                  <c:v>7.0</c:v>
                </c:pt>
                <c:pt idx="73">
                  <c:v>13.0</c:v>
                </c:pt>
                <c:pt idx="74">
                  <c:v>18.0</c:v>
                </c:pt>
                <c:pt idx="75">
                  <c:v>7.2</c:v>
                </c:pt>
                <c:pt idx="76">
                  <c:v>7.0</c:v>
                </c:pt>
                <c:pt idx="77">
                  <c:v>8.6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Sheet1!$B$210</c:f>
              <c:strCache>
                <c:ptCount val="1"/>
                <c:pt idx="0">
                  <c:v>Underpriced (paid &lt; 50% of fair) (n=79)</c:v>
                </c:pt>
              </c:strCache>
            </c:strRef>
          </c:tx>
          <c:spPr>
            <a:ln w="47625">
              <a:noFill/>
            </a:ln>
          </c:spPr>
          <c:marker>
            <c:symbol val="circle"/>
            <c:size val="7"/>
            <c:spPr>
              <a:solidFill>
                <a:srgbClr val="2A78D6"/>
              </a:solidFill>
              <a:ln>
                <a:solidFill>
                  <a:srgbClr val="FFFFFF"/>
                </a:solidFill>
              </a:ln>
            </c:spPr>
          </c:marker>
          <c:xVal>
            <c:numRef>
              <c:f>Sheet1!$A$211:$A$289</c:f>
              <c:numCache>
                <c:formatCode>General</c:formatCode>
                <c:ptCount val="79"/>
                <c:pt idx="0">
                  <c:v>-1.52</c:v>
                </c:pt>
                <c:pt idx="1">
                  <c:v>-0.15</c:v>
                </c:pt>
                <c:pt idx="2">
                  <c:v>-3.01</c:v>
                </c:pt>
                <c:pt idx="3">
                  <c:v>-5.6</c:v>
                </c:pt>
                <c:pt idx="4">
                  <c:v>-1.93</c:v>
                </c:pt>
                <c:pt idx="5">
                  <c:v>-0.96</c:v>
                </c:pt>
                <c:pt idx="6">
                  <c:v>-0.81</c:v>
                </c:pt>
                <c:pt idx="7">
                  <c:v>-0.06</c:v>
                </c:pt>
                <c:pt idx="8">
                  <c:v>-0.86</c:v>
                </c:pt>
                <c:pt idx="9">
                  <c:v>-1.16</c:v>
                </c:pt>
                <c:pt idx="10">
                  <c:v>-1.3</c:v>
                </c:pt>
                <c:pt idx="11">
                  <c:v>7.38</c:v>
                </c:pt>
                <c:pt idx="12">
                  <c:v>-0.69</c:v>
                </c:pt>
                <c:pt idx="13">
                  <c:v>1.26</c:v>
                </c:pt>
                <c:pt idx="14">
                  <c:v>-0.37</c:v>
                </c:pt>
                <c:pt idx="15">
                  <c:v>-2.29</c:v>
                </c:pt>
                <c:pt idx="16">
                  <c:v>-1.15</c:v>
                </c:pt>
                <c:pt idx="17">
                  <c:v>0.6</c:v>
                </c:pt>
                <c:pt idx="18">
                  <c:v>-1.99</c:v>
                </c:pt>
                <c:pt idx="19">
                  <c:v>-0.72</c:v>
                </c:pt>
                <c:pt idx="20">
                  <c:v>-3.53</c:v>
                </c:pt>
                <c:pt idx="21">
                  <c:v>-0.55</c:v>
                </c:pt>
                <c:pt idx="22">
                  <c:v>-0.17</c:v>
                </c:pt>
                <c:pt idx="23">
                  <c:v>2.93</c:v>
                </c:pt>
                <c:pt idx="24">
                  <c:v>-2.5</c:v>
                </c:pt>
                <c:pt idx="25">
                  <c:v>-2.01</c:v>
                </c:pt>
                <c:pt idx="26">
                  <c:v>-2.02</c:v>
                </c:pt>
                <c:pt idx="27">
                  <c:v>-2.45</c:v>
                </c:pt>
                <c:pt idx="28">
                  <c:v>-1.59</c:v>
                </c:pt>
                <c:pt idx="29">
                  <c:v>-0.89</c:v>
                </c:pt>
                <c:pt idx="30">
                  <c:v>-1.61</c:v>
                </c:pt>
                <c:pt idx="31">
                  <c:v>-0.96</c:v>
                </c:pt>
                <c:pt idx="32">
                  <c:v>-1.22</c:v>
                </c:pt>
                <c:pt idx="33">
                  <c:v>0.96</c:v>
                </c:pt>
                <c:pt idx="34">
                  <c:v>-0.45</c:v>
                </c:pt>
                <c:pt idx="35">
                  <c:v>-1.48</c:v>
                </c:pt>
                <c:pt idx="36">
                  <c:v>0.76</c:v>
                </c:pt>
                <c:pt idx="37">
                  <c:v>0.19</c:v>
                </c:pt>
                <c:pt idx="38">
                  <c:v>-0.58</c:v>
                </c:pt>
                <c:pt idx="39">
                  <c:v>-0.0</c:v>
                </c:pt>
                <c:pt idx="40">
                  <c:v>-2.36</c:v>
                </c:pt>
                <c:pt idx="41">
                  <c:v>-2.29</c:v>
                </c:pt>
                <c:pt idx="42">
                  <c:v>0.8</c:v>
                </c:pt>
                <c:pt idx="43">
                  <c:v>-1.52</c:v>
                </c:pt>
                <c:pt idx="44">
                  <c:v>-4.57</c:v>
                </c:pt>
                <c:pt idx="45">
                  <c:v>0.7</c:v>
                </c:pt>
                <c:pt idx="46">
                  <c:v>0.33</c:v>
                </c:pt>
                <c:pt idx="47">
                  <c:v>-1.43</c:v>
                </c:pt>
                <c:pt idx="48">
                  <c:v>-0.33</c:v>
                </c:pt>
                <c:pt idx="49">
                  <c:v>-1.22</c:v>
                </c:pt>
                <c:pt idx="50">
                  <c:v>0.07</c:v>
                </c:pt>
                <c:pt idx="51">
                  <c:v>3.22</c:v>
                </c:pt>
                <c:pt idx="52">
                  <c:v>-0.23</c:v>
                </c:pt>
                <c:pt idx="53">
                  <c:v>-0.98</c:v>
                </c:pt>
                <c:pt idx="54">
                  <c:v>-0.67</c:v>
                </c:pt>
                <c:pt idx="55">
                  <c:v>-1.17</c:v>
                </c:pt>
                <c:pt idx="56">
                  <c:v>1.31</c:v>
                </c:pt>
                <c:pt idx="57">
                  <c:v>-0.86</c:v>
                </c:pt>
                <c:pt idx="58">
                  <c:v>-0.77</c:v>
                </c:pt>
                <c:pt idx="59">
                  <c:v>-1.09</c:v>
                </c:pt>
                <c:pt idx="60">
                  <c:v>1.41</c:v>
                </c:pt>
                <c:pt idx="61">
                  <c:v>-1.12</c:v>
                </c:pt>
                <c:pt idx="62">
                  <c:v>1.86</c:v>
                </c:pt>
                <c:pt idx="63">
                  <c:v>2.02</c:v>
                </c:pt>
                <c:pt idx="64">
                  <c:v>-2.77</c:v>
                </c:pt>
                <c:pt idx="65">
                  <c:v>-0.32</c:v>
                </c:pt>
                <c:pt idx="66">
                  <c:v>-2.35</c:v>
                </c:pt>
                <c:pt idx="67">
                  <c:v>0.58</c:v>
                </c:pt>
                <c:pt idx="68">
                  <c:v>-0.28</c:v>
                </c:pt>
                <c:pt idx="69">
                  <c:v>-1.71</c:v>
                </c:pt>
                <c:pt idx="70">
                  <c:v>-2.77</c:v>
                </c:pt>
                <c:pt idx="71">
                  <c:v>1.56</c:v>
                </c:pt>
                <c:pt idx="72">
                  <c:v>-2.54</c:v>
                </c:pt>
                <c:pt idx="73">
                  <c:v>-1.42</c:v>
                </c:pt>
                <c:pt idx="74">
                  <c:v>-2.31</c:v>
                </c:pt>
                <c:pt idx="75">
                  <c:v>1.51</c:v>
                </c:pt>
                <c:pt idx="76">
                  <c:v>-2.41</c:v>
                </c:pt>
                <c:pt idx="77">
                  <c:v>-0.12</c:v>
                </c:pt>
                <c:pt idx="78">
                  <c:v>-1.28</c:v>
                </c:pt>
              </c:numCache>
            </c:numRef>
          </c:xVal>
          <c:yVal>
            <c:numRef>
              <c:f>Sheet1!$B$211:$B$289</c:f>
              <c:numCache>
                <c:formatCode>General</c:formatCode>
                <c:ptCount val="79"/>
                <c:pt idx="0">
                  <c:v>0.2</c:v>
                </c:pt>
                <c:pt idx="1">
                  <c:v>0.2</c:v>
                </c:pt>
                <c:pt idx="2">
                  <c:v>0.3</c:v>
                </c:pt>
                <c:pt idx="3">
                  <c:v>0.2</c:v>
                </c:pt>
                <c:pt idx="4">
                  <c:v>0.2</c:v>
                </c:pt>
                <c:pt idx="5">
                  <c:v>1.0</c:v>
                </c:pt>
                <c:pt idx="6">
                  <c:v>1.1</c:v>
                </c:pt>
                <c:pt idx="7">
                  <c:v>1.7</c:v>
                </c:pt>
                <c:pt idx="8">
                  <c:v>1.4</c:v>
                </c:pt>
                <c:pt idx="9">
                  <c:v>0.5</c:v>
                </c:pt>
                <c:pt idx="10">
                  <c:v>0.5</c:v>
                </c:pt>
                <c:pt idx="11">
                  <c:v>8.0</c:v>
                </c:pt>
                <c:pt idx="12">
                  <c:v>1.0</c:v>
                </c:pt>
                <c:pt idx="13">
                  <c:v>1.9</c:v>
                </c:pt>
                <c:pt idx="14">
                  <c:v>0.75</c:v>
                </c:pt>
                <c:pt idx="15">
                  <c:v>0.5</c:v>
                </c:pt>
                <c:pt idx="16">
                  <c:v>0.5</c:v>
                </c:pt>
                <c:pt idx="17">
                  <c:v>2.0</c:v>
                </c:pt>
                <c:pt idx="18">
                  <c:v>0.75</c:v>
                </c:pt>
                <c:pt idx="19">
                  <c:v>0.5</c:v>
                </c:pt>
                <c:pt idx="20">
                  <c:v>0.5</c:v>
                </c:pt>
                <c:pt idx="21">
                  <c:v>1.0</c:v>
                </c:pt>
                <c:pt idx="22">
                  <c:v>1.5</c:v>
                </c:pt>
                <c:pt idx="23">
                  <c:v>2.0</c:v>
                </c:pt>
                <c:pt idx="24">
                  <c:v>0.75</c:v>
                </c:pt>
                <c:pt idx="25">
                  <c:v>0.75</c:v>
                </c:pt>
                <c:pt idx="26">
                  <c:v>0.5</c:v>
                </c:pt>
                <c:pt idx="27">
                  <c:v>0.5</c:v>
                </c:pt>
                <c:pt idx="28">
                  <c:v>0.5</c:v>
                </c:pt>
                <c:pt idx="29">
                  <c:v>0.5</c:v>
                </c:pt>
                <c:pt idx="30">
                  <c:v>0.5</c:v>
                </c:pt>
                <c:pt idx="31">
                  <c:v>0.75</c:v>
                </c:pt>
                <c:pt idx="32">
                  <c:v>0.5</c:v>
                </c:pt>
                <c:pt idx="33">
                  <c:v>0.5</c:v>
                </c:pt>
                <c:pt idx="34">
                  <c:v>0.2</c:v>
                </c:pt>
                <c:pt idx="35">
                  <c:v>0.5</c:v>
                </c:pt>
                <c:pt idx="36">
                  <c:v>1.5</c:v>
                </c:pt>
                <c:pt idx="37">
                  <c:v>0.5</c:v>
                </c:pt>
                <c:pt idx="38">
                  <c:v>0.5</c:v>
                </c:pt>
                <c:pt idx="39">
                  <c:v>0.2</c:v>
                </c:pt>
                <c:pt idx="40">
                  <c:v>0.2</c:v>
                </c:pt>
                <c:pt idx="41">
                  <c:v>0.2</c:v>
                </c:pt>
                <c:pt idx="42">
                  <c:v>2.0</c:v>
                </c:pt>
                <c:pt idx="43">
                  <c:v>0.5</c:v>
                </c:pt>
                <c:pt idx="44">
                  <c:v>0.2</c:v>
                </c:pt>
                <c:pt idx="45">
                  <c:v>2.4</c:v>
                </c:pt>
                <c:pt idx="46">
                  <c:v>0.3</c:v>
                </c:pt>
                <c:pt idx="47">
                  <c:v>0.3</c:v>
                </c:pt>
                <c:pt idx="48">
                  <c:v>0.3</c:v>
                </c:pt>
                <c:pt idx="49">
                  <c:v>0.3</c:v>
                </c:pt>
                <c:pt idx="50">
                  <c:v>0.3</c:v>
                </c:pt>
                <c:pt idx="51">
                  <c:v>2.0</c:v>
                </c:pt>
                <c:pt idx="52">
                  <c:v>1.5</c:v>
                </c:pt>
                <c:pt idx="53">
                  <c:v>1.5</c:v>
                </c:pt>
                <c:pt idx="54">
                  <c:v>0.3</c:v>
                </c:pt>
                <c:pt idx="55">
                  <c:v>0.4</c:v>
                </c:pt>
                <c:pt idx="56">
                  <c:v>0.5</c:v>
                </c:pt>
                <c:pt idx="57">
                  <c:v>0.3</c:v>
                </c:pt>
                <c:pt idx="58">
                  <c:v>0.3</c:v>
                </c:pt>
                <c:pt idx="59">
                  <c:v>0.75</c:v>
                </c:pt>
                <c:pt idx="60">
                  <c:v>2.0</c:v>
                </c:pt>
                <c:pt idx="61">
                  <c:v>0.75</c:v>
                </c:pt>
                <c:pt idx="62">
                  <c:v>0.75</c:v>
                </c:pt>
                <c:pt idx="63">
                  <c:v>1.6</c:v>
                </c:pt>
                <c:pt idx="64">
                  <c:v>1.0</c:v>
                </c:pt>
                <c:pt idx="65">
                  <c:v>0.35</c:v>
                </c:pt>
                <c:pt idx="66">
                  <c:v>0.3</c:v>
                </c:pt>
                <c:pt idx="67">
                  <c:v>2.0</c:v>
                </c:pt>
                <c:pt idx="68">
                  <c:v>0.8</c:v>
                </c:pt>
                <c:pt idx="69">
                  <c:v>0.75</c:v>
                </c:pt>
                <c:pt idx="70">
                  <c:v>0.75</c:v>
                </c:pt>
                <c:pt idx="71">
                  <c:v>2.0</c:v>
                </c:pt>
                <c:pt idx="72">
                  <c:v>0.75</c:v>
                </c:pt>
                <c:pt idx="73">
                  <c:v>0.75</c:v>
                </c:pt>
                <c:pt idx="74">
                  <c:v>1.0</c:v>
                </c:pt>
                <c:pt idx="75">
                  <c:v>0.3</c:v>
                </c:pt>
                <c:pt idx="76">
                  <c:v>0.75</c:v>
                </c:pt>
                <c:pt idx="77">
                  <c:v>0.75</c:v>
                </c:pt>
                <c:pt idx="78">
                  <c:v>0.4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9.0"/>
          <c:min val="-7.0"/>
        </c:scaling>
        <c:delete val="0"/>
        <c:axPos val="b"/>
        <c:title>
          <c:tx>
            <c:rich>
              <a:bodyPr/>
              <a:lstStyle/>
              <a:p>
                <a:r>
                  <a:rPr sz="1000"/>
                  <a:t>Impact Score at auction (runs/match vs average)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29643912"/>
        <c:crosses val="min"/>
        <c:crossBetween val="midCat"/>
      </c:valAx>
      <c:valAx>
        <c:axId val="-2129643912"/>
        <c:scaling>
          <c:logBase val="10"/>
          <c:orientation val="minMax"/>
          <c:max val="40.0"/>
          <c:min val="0.1"/>
        </c:scaling>
        <c:delete val="0"/>
        <c:axPos val="l"/>
        <c:majorGridlines>
          <c:spPr>
            <a:ln w="9525">
              <a:solidFill>
                <a:srgbClr val="DDE1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000"/>
                  <a:t>Price paid, Rs crore (log scale)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28940872"/>
        <c:crosses val="min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0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1F2737"/>
                </a:solidFill>
              </a:rPr>
              <a:t>Bid ceiling vs likely price, Rs crore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Bid ceiling</c:v>
                </c:pt>
              </c:strCache>
            </c:strRef>
          </c:tx>
          <c:spPr>
            <a:solidFill>
              <a:srgbClr val="0E1B3D"/>
            </a:solidFill>
          </c:spPr>
          <c:cat>
            <c:strRef>
              <c:f>Sheet1!$A$2:$A$8</c:f>
              <c:strCache>
                <c:ptCount val="7"/>
                <c:pt idx="0">
                  <c:v>Naman Dhir</c:v>
                </c:pt>
                <c:pt idx="1">
                  <c:v>Yash Dayal</c:v>
                </c:pt>
                <c:pt idx="2">
                  <c:v>Mahipal Lomror</c:v>
                </c:pt>
                <c:pt idx="3">
                  <c:v>Rasikh Salam</c:v>
                </c:pt>
                <c:pt idx="4">
                  <c:v>Karn Sharma</c:v>
                </c:pt>
                <c:pt idx="5">
                  <c:v>Moeen Ali</c:v>
                </c:pt>
                <c:pt idx="6">
                  <c:v>Jonny Bairstow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1.1</c:v>
                </c:pt>
                <c:pt idx="1">
                  <c:v>1.13</c:v>
                </c:pt>
                <c:pt idx="2">
                  <c:v>1.22</c:v>
                </c:pt>
                <c:pt idx="3">
                  <c:v>1.18</c:v>
                </c:pt>
                <c:pt idx="4">
                  <c:v>3.08</c:v>
                </c:pt>
                <c:pt idx="5">
                  <c:v>4.14</c:v>
                </c:pt>
                <c:pt idx="6">
                  <c:v>5.42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Likely price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Sheet1!$A$2:$A$8</c:f>
              <c:strCache>
                <c:ptCount val="7"/>
                <c:pt idx="0">
                  <c:v>Naman Dhir</c:v>
                </c:pt>
                <c:pt idx="1">
                  <c:v>Yash Dayal</c:v>
                </c:pt>
                <c:pt idx="2">
                  <c:v>Mahipal Lomror</c:v>
                </c:pt>
                <c:pt idx="3">
                  <c:v>Rasikh Salam</c:v>
                </c:pt>
                <c:pt idx="4">
                  <c:v>Karn Sharma</c:v>
                </c:pt>
                <c:pt idx="5">
                  <c:v>Moeen Ali</c:v>
                </c:pt>
                <c:pt idx="6">
                  <c:v>Jonny Bairstow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1.98</c:v>
                </c:pt>
                <c:pt idx="1">
                  <c:v>2.0</c:v>
                </c:pt>
                <c:pt idx="2">
                  <c:v>1.48</c:v>
                </c:pt>
                <c:pt idx="3">
                  <c:v>2.22</c:v>
                </c:pt>
                <c:pt idx="4">
                  <c:v>1.7</c:v>
                </c:pt>
                <c:pt idx="5">
                  <c:v>5.63</c:v>
                </c:pt>
                <c:pt idx="6">
                  <c:v>6.5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spPr>
          <a:ln>
            <a:solidFill>
              <a:srgbClr val="DDE1E8"/>
            </a:solidFill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solidFill>
            <a:srgbClr val="5B677D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Draft for discussion. The analysis covers all ten franchises; this deck uses Rajasthan Royals as the illustrative client.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first. Three messages, then the numbers that back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constraint is money and slots, not ambition. That is why the release decisions come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inputs live in outputs/excel/franchise_model.xlsx with formulas; assumptions are flagged.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 Score = runs a player adds per match vs a league-average player in the same phase and season, with wickets valued from a run-expectancy table and small samples shrunk toward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 value = typical price for the same impact, cap status and auction year. Mispricing = (fair - paid) / paid.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Green: our k-th best player in the role ranks in the league's top 10k (starter quality for ten teams). Amber: top 15k. Red: below that, or too few players.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Made the 2026 playoffs (finished #4); protect the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table with rationale, risk and backup for every player: data/processed/recommendations.csv and the web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likely price exceeds our ceiling, the plan substitutes the backup rather than overpay.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45% of a planned strength gain is realised on average; treat squad gains as directional.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outputs are inputs to judgement, not a replacement for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step re-runs the same pipeline: python -m src.pipeline, then the app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am tag"/>
          <p:cNvSpPr/>
          <p:nvPr/>
        </p:nvSpPr>
        <p:spPr>
          <a:xfrm>
            <a:off x="548640" y="1143000"/>
            <a:ext cx="1005840" cy="457200"/>
          </a:xfrm>
          <a:prstGeom prst="roundRect">
            <a:avLst>
              <a:gd name="adj" fmla="val 50000"/>
            </a:avLst>
          </a:prstGeom>
          <a:solidFill>
            <a:srgbClr val="D01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0515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Rajasthan Royals: </a:t>
            </a:r>
            <a:r>
              <a:rPr sz="4000" b="1" i="0">
                <a:solidFill>
                  <a:srgbClr val="FFFFFF"/>
                </a:solidFill>
                <a:latin typeface="Calibri"/>
              </a:rPr>
              <a:t>how to win now at the IPL 2027 auction and set up for the 2028 reset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886200"/>
            <a:ext cx="91440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CADCFC"/>
                </a:solidFill>
                <a:latin typeface="Calibri"/>
              </a:rPr>
              <a:t>Squad strategy, purse allocation and bid ceilings, built from 295,732 deliveries and five years of auction prices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521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EA0C8"/>
                </a:solidFill>
                <a:latin typeface="Calibri"/>
              </a:rPr>
              <a:t>Auction War Room  |  Draft for discussion  |  October 2026  |  Hypothetical engagement, not affiliated with the IPL or any franchise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Cut Rs 48 cr of low-return contracts, fix the weakest roles with value buys, and keep firepower for the 2028 mega-auction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Cricsheet ball-by-ball 2008-2026; Wikipedia IPL auction tables 2022-26; team analysis; franchise P&amp;L model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2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420624" cy="420624"/>
          </a:xfrm>
          <a:prstGeom prst="ellipse">
            <a:avLst/>
          </a:prstGeom>
          <a:solidFill>
            <a:srgbClr val="D01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733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Release what the output does not justify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574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11 releases free Rs 48 cr. The biggest contracts in the squad deliver below-average impact; the purse goes further on output the market underprices.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063240"/>
            <a:ext cx="420624" cy="420624"/>
          </a:xfrm>
          <a:prstGeom prst="ellipse">
            <a:avLst/>
          </a:prstGeom>
          <a:solidFill>
            <a:srgbClr val="D01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449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Buy for the gaps, not the names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4290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No Red roles; Amber: wicketkeeper. 10 targets, each with a bid ceiling and a cheaper backup in the same role.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34840"/>
            <a:ext cx="420624" cy="420624"/>
          </a:xfrm>
          <a:prstGeom prst="ellipse">
            <a:avLst/>
          </a:prstGeom>
          <a:solidFill>
            <a:srgbClr val="D01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416552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2027 is a bridge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00600"/>
            <a:ext cx="65836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It is the last season of the 2025-27 cycle. One-year value veterans now; the real rebuild happens in the 2028 mega-auction, when every franchise resets its purse.</a:t>
            </a:r>
          </a:p>
        </p:txBody>
      </p:sp>
      <p:sp>
        <p:nvSpPr>
          <p:cNvPr id="15" name="Stat panel"/>
          <p:cNvSpPr/>
          <p:nvPr/>
        </p:nvSpPr>
        <p:spPr>
          <a:xfrm>
            <a:off x="7818120" y="1600200"/>
            <a:ext cx="3822191" cy="448056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1783080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62% to 64%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3134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playoff chance, current squad vs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862072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Rs 96 cr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392424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purse used of Rs 125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941064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+Rs 22 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4471416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expected operating profit, mostly lower wages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5020056"/>
            <a:ext cx="3383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0E1B3D"/>
                </a:solidFill>
                <a:latin typeface="Calibri"/>
              </a:rPr>
              <a:t>83%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555040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of revenue is fixed central income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SITUATION AND KEY QUESTION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Rajasthan Royals finished 4th in 2026 with Rs 6.7 cr left and no overseas slots: any upgrade has to be funded by releases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Cricsheet 2026 league table; 2026 retention and auction records (Wikipedia)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91640"/>
          <a:ext cx="30175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1143000"/>
                <a:gridCol w="640080"/>
                <a:gridCol w="82296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Team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Pts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SRH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RCB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GT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D018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RR</a:t>
                      </a:r>
                    </a:p>
                  </a:txBody>
                  <a:tcPr marL="73152" marR="73152" marT="27432" marB="27432" anchor="ctr">
                    <a:solidFill>
                      <a:srgbClr val="D018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D0187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D0187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PBKS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DC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KKR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CSK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MI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LSG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0644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Calibri"/>
              </a:rPr>
              <a:t>2026 league stage (net run rate not shown)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691640"/>
            <a:ext cx="7589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Key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011680"/>
            <a:ext cx="7589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E1B3D"/>
                </a:solidFill>
                <a:latin typeface="Calibri"/>
              </a:rPr>
              <a:t>How should Rajasthan Royals rebuild its squad and allocate its purse for the IPL 2027 auction to maximise wins and commercial value?</a:t>
            </a:r>
          </a:p>
        </p:txBody>
      </p:sp>
      <p:sp>
        <p:nvSpPr>
          <p:cNvPr id="10" name="Oval 9"/>
          <p:cNvSpPr/>
          <p:nvPr/>
        </p:nvSpPr>
        <p:spPr>
          <a:xfrm>
            <a:off x="4023360" y="3154680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20954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How does the franchise make money?</a:t>
            </a:r>
          </a:p>
        </p:txBody>
      </p:sp>
      <p:sp>
        <p:nvSpPr>
          <p:cNvPr id="12" name="Oval 11"/>
          <p:cNvSpPr/>
          <p:nvPr/>
        </p:nvSpPr>
        <p:spPr>
          <a:xfrm>
            <a:off x="4023360" y="3813048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8679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actually wins IPL matches?</a:t>
            </a:r>
          </a:p>
        </p:txBody>
      </p:sp>
      <p:sp>
        <p:nvSpPr>
          <p:cNvPr id="14" name="Oval 13"/>
          <p:cNvSpPr/>
          <p:nvPr/>
        </p:nvSpPr>
        <p:spPr>
          <a:xfrm>
            <a:off x="4023360" y="4471416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5262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Where does the auction misprice players?</a:t>
            </a:r>
          </a:p>
        </p:txBody>
      </p:sp>
      <p:sp>
        <p:nvSpPr>
          <p:cNvPr id="16" name="Oval 15"/>
          <p:cNvSpPr/>
          <p:nvPr/>
        </p:nvSpPr>
        <p:spPr>
          <a:xfrm>
            <a:off x="4023360" y="5129784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518464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Where is our squad weak?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154680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209544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is the best squad we can afford?</a:t>
            </a:r>
          </a:p>
        </p:txBody>
      </p:sp>
      <p:sp>
        <p:nvSpPr>
          <p:cNvPr id="20" name="Oval 19"/>
          <p:cNvSpPr/>
          <p:nvPr/>
        </p:nvSpPr>
        <p:spPr>
          <a:xfrm>
            <a:off x="7863840" y="3813048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86791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exactly should we do?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0" y="4471416"/>
            <a:ext cx="384048" cy="384048"/>
          </a:xfrm>
          <a:prstGeom prst="ellipse">
            <a:avLst/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1F2737"/>
                </a:solidFill>
                <a:latin typeface="Calibri"/>
              </a:rPr>
              <a:t>What is it worth?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HOW THE FRANCHISE MAKES MONEY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83% of revenue is fixed central income: a title adds only Rs 32 cr, so cost discipline matters as much as winning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Media rights Rs 48,390 cr 2023-27; Tata title sponsorship; Houlihan Lokey 2025 brand values; BCCI 2026 prize money; team assumptions (see Excel model)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4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45920"/>
          <a:ext cx="7498079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Callouts"/>
          <p:cNvSpPr/>
          <p:nvPr/>
        </p:nvSpPr>
        <p:spPr>
          <a:xfrm>
            <a:off x="8321040" y="1691640"/>
            <a:ext cx="3319272" cy="41148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874519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Rs 634 cr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377439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revenue if the team misses the playoffs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3172967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+Rs 32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3675887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extra revenue from winning the title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9640" y="4471415"/>
            <a:ext cx="2926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Rs 359 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4974335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operating profit (before any franchise fee)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WHAT WINS IPL MATCHES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Runs added versus an average player explain 53% of win %; early wickets are worth 7x late ones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Cricsheet ball-by-ball 2008-2026; run-expectancy model on 2023-26 first innings; 132 team-seasons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E1B3D"/>
                </a:solidFill>
                <a:latin typeface="Calibri"/>
              </a:rPr>
              <a:t>12.6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395728"/>
            <a:ext cx="996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77D"/>
                </a:solidFill>
                <a:latin typeface="Calibri"/>
              </a:rPr>
              <a:t>runs per wicket
Powerplay (overs 1-6)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10512" y="169164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10512" y="18288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E1B3D"/>
                </a:solidFill>
                <a:latin typeface="Calibri"/>
              </a:rPr>
              <a:t>5.8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3664" y="2395728"/>
            <a:ext cx="996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77D"/>
                </a:solidFill>
                <a:latin typeface="Calibri"/>
              </a:rPr>
              <a:t>runs per wicket
Middle (7-15)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72384" y="1691640"/>
            <a:ext cx="1143000" cy="13716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1828800"/>
            <a:ext cx="1143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 i="0">
                <a:solidFill>
                  <a:srgbClr val="0E1B3D"/>
                </a:solidFill>
                <a:latin typeface="Calibri"/>
              </a:rPr>
              <a:t>1.8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5536" y="2395728"/>
            <a:ext cx="99669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5B677D"/>
                </a:solidFill>
                <a:latin typeface="Calibri"/>
              </a:rPr>
              <a:t>runs per wicket
Death (16-20)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91840"/>
            <a:ext cx="36576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Impact Score, in one sentence: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the runs a player adds per match compared with a league-average player in the same phase and season.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Validated: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a team's same-season total impact explains 53% of the variation in win % (+10 runs/match = about +7 points of win %).</a:t>
            </a:r>
          </a:p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Caveat: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only 45% of a planned strength gain shows up the next season.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4480560" y="1600200"/>
          <a:ext cx="7159752" cy="4343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WHERE THE MARKET MISPRICES PLAYERS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The auction pays for reputation: a cap adds 157% to price, output only 24% per run, so specialists are mispriced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284 players sold at the 2022-26 auctions with an Impact Score; log-price regression (R² 0.30)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00200"/>
          <a:ext cx="694944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Oval 6"/>
          <p:cNvSpPr/>
          <p:nvPr/>
        </p:nvSpPr>
        <p:spPr>
          <a:xfrm>
            <a:off x="7772400" y="1645920"/>
            <a:ext cx="384048" cy="384048"/>
          </a:xfrm>
          <a:prstGeom prst="ellipse">
            <a:avLst/>
          </a:prstGeom>
          <a:solidFill>
            <a:srgbClr val="D01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627632"/>
            <a:ext cx="3364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737"/>
                </a:solidFill>
                <a:latin typeface="Calibri"/>
              </a:rPr>
              <a:t>Wrist spinners are the market's best value: they sell for 17% below fair value (median, n=17), while anchors sell for 2.5x fair value (n=24).</a:t>
            </a:r>
          </a:p>
        </p:txBody>
      </p:sp>
      <p:sp>
        <p:nvSpPr>
          <p:cNvPr id="9" name="Oval 8"/>
          <p:cNvSpPr/>
          <p:nvPr/>
        </p:nvSpPr>
        <p:spPr>
          <a:xfrm>
            <a:off x="7772400" y="3108960"/>
            <a:ext cx="384048" cy="384048"/>
          </a:xfrm>
          <a:prstGeom prst="ellipse">
            <a:avLst/>
          </a:prstGeom>
          <a:solidFill>
            <a:srgbClr val="D01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3090672"/>
            <a:ext cx="3364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737"/>
                </a:solidFill>
                <a:latin typeface="Calibri"/>
              </a:rPr>
              <a:t>Powerplay specialists sell for 18% below fair value, vs death specialists who sell for 1.3x fair value (n=96 / 102).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0" y="4572000"/>
            <a:ext cx="384048" cy="384048"/>
          </a:xfrm>
          <a:prstGeom prst="ellipse">
            <a:avLst/>
          </a:prstGeom>
          <a:solidFill>
            <a:srgbClr val="D01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4553712"/>
            <a:ext cx="336499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1F2737"/>
                </a:solidFill>
                <a:latin typeface="Calibri"/>
              </a:rPr>
              <a:t>Output is only part of the price: +1 run/match of impact adds 24% to price, but an international cap adds 157%; impact and profile explain just 30% of price variation.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OUR SQUAD GAPS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Rajasthan Royals has 0 Red and 1 Amber roles: wicketkeeper are where the purse should go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Role coverage of the 2026 squad vs league benchmarks (Impact Score, 2024-26 weighted)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594360"/>
                <a:gridCol w="822960"/>
                <a:gridCol w="4937760"/>
                <a:gridCol w="31089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Need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Our k-th best vs league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Players in squad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Opener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opener ranks 16 of 29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V Suryavanshi, YBK Jaiswal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Anchor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anchor ranks 10 of 26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 Parag, SM Curran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Middle-order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middle-order ranks 3 of 14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Dhruv Jurel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Finisher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finisher ranks 16 of 30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D Ferreira, SB Dubey, RA Jadeja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Wicketkeeper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Amber</a:t>
                      </a:r>
                    </a:p>
                  </a:txBody>
                  <a:tcPr marL="73152" marR="73152" marT="27432" marB="27432" anchor="ctr">
                    <a:solidFill>
                      <a:srgbClr val="D98E0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wicketkeeper ranks 14 of 32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D Ferreira, Dhruv Jurel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Powerplay pacer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powerplay pacer ranks 11 of 42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JC Archer, N Burger, SM Curran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Death pacer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#2 death pacer ranks 20 of 33 in the league (starter = top 20)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Sandeep Sharma, Brijesh Sharma, TU Deshpande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Wrist spinner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wrist spinner ranks 9 of 15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Ravi Bishnoi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Finger spinner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finger spinner ranks 10 of 24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RA Jadeja, Yash Raj Punja, R Parag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All-rounder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Green</a:t>
                      </a:r>
                    </a:p>
                  </a:txBody>
                  <a:tcPr marL="73152" marR="73152" marT="27432" marB="27432" anchor="ctr">
                    <a:solidFill>
                      <a:srgbClr val="1E8E4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Best all-rounder ranks 6 of 9 in the league (starter = top 10)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RA Jadeja, SM Curran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4360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8A93A6"/>
                </a:solidFill>
                <a:latin typeface="Calibri"/>
              </a:rPr>
              <a:t>Status cells are coloured and labelled. Venue: Sawai Mansingh Stadium, Jaipur adjusts spin, pace and death weights in the optimiser.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RECOMMENDED AUCTION STRATEGY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Strategy: Win Now, with three moves for 2027 and the big rebuild held back for 2028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Team strategy model: role gaps, home-ground profile, 2026 finish and squad age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8</a:t>
            </a:r>
          </a:p>
        </p:txBody>
      </p:sp>
      <p:sp>
        <p:nvSpPr>
          <p:cNvPr id="6" name="Card 1"/>
          <p:cNvSpPr/>
          <p:nvPr/>
        </p:nvSpPr>
        <p:spPr>
          <a:xfrm>
            <a:off x="548640" y="169164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920240"/>
            <a:ext cx="420624" cy="420624"/>
          </a:xfrm>
          <a:prstGeom prst="ellipse">
            <a:avLst/>
          </a:prstGeom>
          <a:solidFill>
            <a:srgbClr val="D01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E1B3D"/>
                </a:solidFill>
                <a:latin typeface="Calibri"/>
              </a:rPr>
              <a:t>Free the purse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D"/>
                </a:solidFill>
                <a:latin typeface="Calibri"/>
              </a:rPr>
              <a:t>Release 11 players (Rs 48 cr) whose salary sits well above what their output justifies.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14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737"/>
                </a:solidFill>
                <a:latin typeface="Calibri"/>
              </a:rPr>
              <a:t>Wage bill falls from Rs 118 cr to Rs 96 cr</a:t>
            </a:r>
          </a:p>
        </p:txBody>
      </p:sp>
      <p:sp>
        <p:nvSpPr>
          <p:cNvPr id="11" name="Card 2"/>
          <p:cNvSpPr/>
          <p:nvPr/>
        </p:nvSpPr>
        <p:spPr>
          <a:xfrm>
            <a:off x="4297679" y="169164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1999" y="1920240"/>
            <a:ext cx="420624" cy="420624"/>
          </a:xfrm>
          <a:prstGeom prst="ellipse">
            <a:avLst/>
          </a:prstGeom>
          <a:solidFill>
            <a:srgbClr val="D01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2514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E1B3D"/>
                </a:solidFill>
                <a:latin typeface="Calibri"/>
              </a:rPr>
              <a:t>Fix the gaps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301752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D"/>
                </a:solidFill>
                <a:latin typeface="Calibri"/>
              </a:rPr>
              <a:t>Spend first on wicketkeeper; every target has a walk-away ceiling and a backup.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4114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737"/>
                </a:solidFill>
                <a:latin typeface="Calibri"/>
              </a:rPr>
              <a:t>10 targets, 4 of them starters</a:t>
            </a:r>
          </a:p>
        </p:txBody>
      </p:sp>
      <p:sp>
        <p:nvSpPr>
          <p:cNvPr id="16" name="Card 3"/>
          <p:cNvSpPr/>
          <p:nvPr/>
        </p:nvSpPr>
        <p:spPr>
          <a:xfrm>
            <a:off x="8046718" y="1691640"/>
            <a:ext cx="3520440" cy="3246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21038" y="1920240"/>
            <a:ext cx="420624" cy="420624"/>
          </a:xfrm>
          <a:prstGeom prst="ellipse">
            <a:avLst/>
          </a:prstGeom>
          <a:solidFill>
            <a:srgbClr val="D01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38" y="2514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0E1B3D"/>
                </a:solidFill>
                <a:latin typeface="Calibri"/>
              </a:rPr>
              <a:t>Bridge to 2028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38" y="3017520"/>
            <a:ext cx="301752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77D"/>
                </a:solidFill>
                <a:latin typeface="Calibri"/>
              </a:rPr>
              <a:t>Prefer one-year value veterans over long, expensive bets: the 2028 mega-auction resets every squad.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8" y="411480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2737"/>
                </a:solidFill>
                <a:latin typeface="Calibri"/>
              </a:rPr>
              <a:t>Mega-auction plan lifts playoff odds to 71%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57800"/>
            <a:ext cx="11064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Why this stance: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Made the 2026 playoffs (finished #4); protect the window. </a:t>
            </a:r>
            <a:r>
              <a:rPr sz="1300" b="1" i="0">
                <a:solidFill>
                  <a:srgbClr val="0E1B3D"/>
                </a:solidFill>
                <a:latin typeface="Calibri"/>
              </a:rPr>
              <a:t>Home ground: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Sawai Mansingh Stadium, Jaipur; its spin, pace and death-over profile adjusts the role weights.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PLAYER RECOMMENDATIONS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Buy 10 targets, led by Jonny Bairstow (opener) and MS Dhoni (finisher) for the gaps; retain 14, release 11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Optimiser (PuLP) on 2027 mini-auction pool; fair value and likely price from market models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772668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234440"/>
                <a:gridCol w="640080"/>
                <a:gridCol w="960120"/>
                <a:gridCol w="914400"/>
                <a:gridCol w="1005840"/>
                <a:gridCol w="128016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Buy target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Fair value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Ceiling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Likely price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Backup option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Jonny Bairstow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Opener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+2.0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5.4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6.5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Jake Fraser-McGurk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Moeen Ali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Finger spinner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+1.0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4.1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4.1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5.6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Glenn Maxwell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Karn Sharma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Wrist spinner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3.1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3.1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1.7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Rahul Chahar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Rasikh Salam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Death pacer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2.2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Akash Madhwal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Mahipal Lomror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Utility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+0.1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1.2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1.5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none within ceiling - prioritise this bid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Yash Dayal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Powerplay pacer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-0.2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2.0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Simarjeet Singh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Naman Dhir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Finisher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-0.3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2.0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none within ceiling - prioritise this bid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F2737"/>
                          </a:solidFill>
                          <a:latin typeface="Calibri"/>
                        </a:rPr>
                        <a:t>MS Dhoni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Finisher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-0.4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1.1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Rs 1.8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F2737"/>
                          </a:solidFill>
                          <a:latin typeface="Calibri"/>
                        </a:rPr>
                        <a:t>Ramandeep Singh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sp>
        <p:nvSpPr>
          <p:cNvPr id="7" name="Squad decisions"/>
          <p:cNvSpPr/>
          <p:nvPr/>
        </p:nvSpPr>
        <p:spPr>
          <a:xfrm>
            <a:off x="8503920" y="1600200"/>
            <a:ext cx="3136392" cy="434340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7830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Release (largest salaries)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148840"/>
            <a:ext cx="27432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Yashasvi Jaiswal  (Rs 18.0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Shimron Hetmyer  (Rs 11.0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Tushar Deshpande  (Rs 6.5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Sandeep Sharma  (Rs 4.0 cr)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Sam Curran  (Rs 2.4 cr)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32520" y="3886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Retain (highest impact)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4251960"/>
            <a:ext cx="2743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Vaibhav Sooryavanshi  (+9.3)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Jofra Archer  (+3.4)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Vignesh Puthur  (+1.5)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Riyan Parag  (+1.2)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5B677D"/>
                </a:solidFill>
                <a:latin typeface="Calibri"/>
              </a:rPr>
              <a:t>Donovan Ferreira  (+0.8)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7680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8A93A6"/>
                </a:solidFill>
                <a:latin typeface="Calibri"/>
              </a:rPr>
              <a:t>Ceiling = fair value + premium for gap-filling roles (+15% Red, +5% Amber). Where the likely price is above the ceiling, bid only to the ceiling and move to the backup.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SCENARIOS AND BID CEILINGS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The plan is robust: at +30% rival bidding the squad strength holds at 20.9 and playoff odds stay near 64%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Optimiser re-run under Win Now / Long-Term weights and +10/20/30% rival price inflation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51206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051560"/>
                <a:gridCol w="594360"/>
                <a:gridCol w="822960"/>
                <a:gridCol w="914400"/>
              </a:tblGrid>
              <a:tr h="41148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Scenario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Purse used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Buys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Strength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Playoff chance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Win Now @ +10%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96.1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20.9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Win Now @ +20%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98.5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20.9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64%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Win Now @ +30%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100.9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20.9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Long-Term @ +10%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103.6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21.3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64%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Long-Term @ +20%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106.9 cr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21.3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64%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Long-Term @ +30%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Rs 118.0 cr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21.4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64%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035040" y="1600200"/>
          <a:ext cx="5605272" cy="4343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EXPECTED IMPACT ON WINS AND REVENUE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Expected impact: playoff odds 62% to 64% and +Rs 22 cr expected profit, most of it from a leaner wage bill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Impact model: realised-strength regression (132 team-seasons), binomial over 14 games, probability-weighted P&amp;L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11</a:t>
            </a:r>
          </a:p>
        </p:txBody>
      </p:sp>
      <p:sp>
        <p:nvSpPr>
          <p:cNvPr id="6" name="Chain 1"/>
          <p:cNvSpPr/>
          <p:nvPr/>
        </p:nvSpPr>
        <p:spPr>
          <a:xfrm>
            <a:off x="548640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Squad strength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18.2 to 20.9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best-12 Impact, runs/match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06040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ain 2"/>
          <p:cNvSpPr/>
          <p:nvPr/>
        </p:nvSpPr>
        <p:spPr>
          <a:xfrm>
            <a:off x="2807208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Win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54.0% to 54.8%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only 45% of planned gain realised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64608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hain 3"/>
          <p:cNvSpPr/>
          <p:nvPr/>
        </p:nvSpPr>
        <p:spPr>
          <a:xfrm>
            <a:off x="5065776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0368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Playoff chance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62% to 64%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0368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8 wins usually qualify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23176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ain 4"/>
          <p:cNvSpPr/>
          <p:nvPr/>
        </p:nvSpPr>
        <p:spPr>
          <a:xfrm>
            <a:off x="7324344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F3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88936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5B677D"/>
                </a:solidFill>
                <a:latin typeface="Calibri"/>
              </a:rPr>
              <a:t>Expected revenue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936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0E1B3D"/>
                </a:solidFill>
                <a:latin typeface="Calibri"/>
              </a:rPr>
              <a:t>+Rs 0.4 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8936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77D"/>
                </a:solidFill>
                <a:latin typeface="Calibri"/>
              </a:rPr>
              <a:t>83% of revenue is fixed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81744" y="2926080"/>
            <a:ext cx="173736" cy="274320"/>
          </a:xfrm>
          <a:prstGeom prst="rightArrow">
            <a:avLst/>
          </a:prstGeom>
          <a:solidFill>
            <a:srgbClr val="8A93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ain 5"/>
          <p:cNvSpPr/>
          <p:nvPr/>
        </p:nvSpPr>
        <p:spPr>
          <a:xfrm>
            <a:off x="9582912" y="2011680"/>
            <a:ext cx="2029968" cy="2103120"/>
          </a:xfrm>
          <a:prstGeom prst="roundRect">
            <a:avLst>
              <a:gd name="adj" fmla="val 8000"/>
            </a:avLst>
          </a:prstGeom>
          <a:solidFill>
            <a:srgbClr val="0E1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47504" y="2194560"/>
            <a:ext cx="170078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Expected op. profit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47504" y="2606040"/>
            <a:ext cx="170078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+Rs 22 cr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3429000"/>
            <a:ext cx="170078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ADCFC"/>
                </a:solidFill>
                <a:latin typeface="Calibri"/>
              </a:rPr>
              <a:t>lower wages + small revenue gain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52628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Mega-auction 2028: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with the whole league back in the pool, the same method lifts playoff odds to 71% (strength 18.2 to 29.9).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0E1B3D"/>
                </a:solidFill>
                <a:latin typeface="Calibri"/>
              </a:rPr>
              <a:t>Read with care: </a:t>
            </a:r>
            <a:r>
              <a:rPr sz="1300" b="0" i="0">
                <a:solidFill>
                  <a:srgbClr val="5B677D"/>
                </a:solidFill>
                <a:latin typeface="Calibri"/>
              </a:rPr>
              <a:t>the profit gain is mostly salary saved; revenue barely moves because central income dominates.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RISKS AND MITIGATIONS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Five risks to manage: model blind spots on leadership and youth matter most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Team analysis; model limitations in docs/methodology.md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64240" cy="4279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858000"/>
              </a:tblGrid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Leadership and brand value are not in the model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Review high-profile releases (e.g. Yashasvi Jaiswal) with the board; keep the captain even at a premium.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Young players look weak on small samples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Kwena Maphaka and Lhuan-dre Pretorius (both 23 or under) rate low on few balls: keep one as a development bet.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Bidding wars push prices past our ceilings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Hard walk-away ceilings; pre-agreed backups in the same role; plan tested at +30% inflation.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Projected releases may not happen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Several targets depend on rivals releasing them on 15 Nov; re-run the optimiser on the real lists.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737"/>
                          </a:solidFill>
                          <a:latin typeface="Calibri"/>
                        </a:rPr>
                        <a:t>Veterans and overseas availability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737"/>
                          </a:solidFill>
                          <a:latin typeface="Calibri"/>
                        </a:rPr>
                        <a:t>Age 35+ and international clashes: favour one-year deals and carry a like-for-like Indian backup.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NEXT STEPS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Next steps: lock retentions by 15 November, then rehearse the auction against live rival lists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IPL calendar (retention deadline mid-November; auction second week of December 2026, per Business Standard)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13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D01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51560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Now - 10 Nov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Board review of releases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Leadership and youth exceptions; confirm captain</a:t>
            </a:r>
          </a:p>
        </p:txBody>
      </p:sp>
      <p:sp>
        <p:nvSpPr>
          <p:cNvPr id="11" name="Oval 10"/>
          <p:cNvSpPr/>
          <p:nvPr/>
        </p:nvSpPr>
        <p:spPr>
          <a:xfrm>
            <a:off x="2807208" y="2377440"/>
            <a:ext cx="457200" cy="457200"/>
          </a:xfrm>
          <a:prstGeom prst="ellipse">
            <a:avLst/>
          </a:prstGeom>
          <a:solidFill>
            <a:srgbClr val="D01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310128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807208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15 Nov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07208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Submit retention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7208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Then load every team's real releases and re-run</a:t>
            </a:r>
          </a:p>
        </p:txBody>
      </p:sp>
      <p:sp>
        <p:nvSpPr>
          <p:cNvPr id="16" name="Oval 15"/>
          <p:cNvSpPr/>
          <p:nvPr/>
        </p:nvSpPr>
        <p:spPr>
          <a:xfrm>
            <a:off x="5065776" y="2377440"/>
            <a:ext cx="457200" cy="457200"/>
          </a:xfrm>
          <a:prstGeom prst="ellipse">
            <a:avLst/>
          </a:prstGeom>
          <a:solidFill>
            <a:srgbClr val="D01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568696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065776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16 Nov - 5 Dec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5776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Auction rehearsal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65776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Live simulator, ceilings, backups, rival purses</a:t>
            </a:r>
          </a:p>
        </p:txBody>
      </p:sp>
      <p:sp>
        <p:nvSpPr>
          <p:cNvPr id="21" name="Oval 20"/>
          <p:cNvSpPr/>
          <p:nvPr/>
        </p:nvSpPr>
        <p:spPr>
          <a:xfrm>
            <a:off x="7324344" y="2377440"/>
            <a:ext cx="457200" cy="457200"/>
          </a:xfrm>
          <a:prstGeom prst="ellipse">
            <a:avLst/>
          </a:prstGeom>
          <a:solidFill>
            <a:srgbClr val="D01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27264" y="2606040"/>
            <a:ext cx="1709928" cy="0"/>
          </a:xfrm>
          <a:prstGeom prst="line">
            <a:avLst/>
          </a:prstGeom>
          <a:ln w="25400">
            <a:solidFill>
              <a:srgbClr val="DDE1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24344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Dec 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24344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Auction 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24344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Bid to ceilings; switch to backups in real time</a:t>
            </a:r>
          </a:p>
        </p:txBody>
      </p:sp>
      <p:sp>
        <p:nvSpPr>
          <p:cNvPr id="26" name="Oval 25"/>
          <p:cNvSpPr/>
          <p:nvPr/>
        </p:nvSpPr>
        <p:spPr>
          <a:xfrm>
            <a:off x="9582912" y="2377440"/>
            <a:ext cx="457200" cy="457200"/>
          </a:xfrm>
          <a:prstGeom prst="ellipse">
            <a:avLst/>
          </a:prstGeom>
          <a:solidFill>
            <a:srgbClr val="D01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82912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5B677D"/>
                </a:solidFill>
                <a:latin typeface="Calibri"/>
              </a:rPr>
              <a:t>2027 season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82912" y="3429000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0E1B3D"/>
                </a:solidFill>
                <a:latin typeface="Calibri"/>
              </a:rPr>
              <a:t>Track and prepare 2028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2912" y="4114800"/>
            <a:ext cx="2057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B677D"/>
                </a:solidFill>
                <a:latin typeface="Calibri"/>
              </a:rPr>
              <a:t>Monitor impact; plan the mega-auction retentions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5B677D"/>
                </a:solidFill>
                <a:latin typeface="Calibri"/>
              </a:rPr>
              <a:t>APPENDIX: METHODOLOGY AND ASSUMPTIONS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0E1B3D"/>
                </a:solidFill>
                <a:latin typeface="Calibri"/>
              </a:rPr>
              <a:t>Appendix: every method is simple enough to explain in one sentence, and every assumption is flagged</a:t>
            </a:r>
          </a:p>
        </p:txBody>
      </p:sp>
      <p:sp>
        <p:nvSpPr>
          <p:cNvPr id="4" name="Source"/>
          <p:cNvSpPr txBox="1"/>
          <p:nvPr/>
        </p:nvSpPr>
        <p:spPr>
          <a:xfrm>
            <a:off x="548640" y="641908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Source: docs/methodology.md, docs/sources.md, config/assumptions.yaml, config/rules.yaml</a:t>
            </a:r>
          </a:p>
        </p:txBody>
      </p:sp>
      <p:sp>
        <p:nvSpPr>
          <p:cNvPr id="5" name="Page"/>
          <p:cNvSpPr txBox="1"/>
          <p:nvPr/>
        </p:nvSpPr>
        <p:spPr>
          <a:xfrm>
            <a:off x="9265615" y="6419088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 i="0">
                <a:solidFill>
                  <a:srgbClr val="8A93A6"/>
                </a:solidFill>
                <a:latin typeface="Calibri"/>
              </a:rPr>
              <a:t>Auction War Room  | 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64240" cy="4096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6217920"/>
                <a:gridCol w="3200400"/>
              </a:tblGrid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Method in one sentence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Main limitation</a:t>
                      </a:r>
                    </a:p>
                  </a:txBody>
                  <a:tcPr marL="73152" marR="73152" marT="27432" marB="27432" anchor="ctr">
                    <a:solidFill>
                      <a:srgbClr val="0E1B3D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Impact Score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Runs added per match vs an average player in the same phase/season; wickets valued by run expectancy; small samples shrunk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Ignores fielding, captaincy, opposition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Fair value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Typical price for the same output, cap status and year (log-price regression, R² 0.30)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Bidding dynamics; unsold players missing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Likely price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Fair-value model plus previous contract as a reputation proxy (R² 0.38)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Reputation proxy is crude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Role gaps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League rank of the squad's k-th best player per data-driven role (Green / Amber / Red)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Thresholds are judgement calls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Optimiser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Integer program: best-12 value within purse, squad, overseas and role rules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Rivals do not react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Impact chain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Strength to win % (R² 0.53), realisation factor, binomial playoff odds, weighted P&amp;L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Next-season forecasts are noisy</a:t>
                      </a:r>
                    </a:p>
                  </a:txBody>
                  <a:tcPr marL="73152" marR="73152" marT="27432" marB="27432" anchor="ctr">
                    <a:solidFill>
                      <a:srgbClr val="F3F5F9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F2737"/>
                          </a:solidFill>
                          <a:latin typeface="Calibri"/>
                        </a:rPr>
                        <a:t>Key assumptions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2027 purse Rs 125 cr (unannounced); 2028 rules = 2025 framework; 50% central-revenue share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F2737"/>
                          </a:solidFill>
                          <a:latin typeface="Calibri"/>
                        </a:rPr>
                        <a:t>Update when BCCI announces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