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Central media rights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483.9</c:v>
                </c:pt>
                <c:pt idx="1">
                  <c:v>483.9</c:v>
                </c:pt>
                <c:pt idx="2">
                  <c:v>483.9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 sponsorship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40.0</c:v>
                </c:pt>
                <c:pt idx="1">
                  <c:v>40.0</c:v>
                </c:pt>
                <c:pt idx="2">
                  <c:v>40.0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 sponsorship, tickets, merchandise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181.6</c:v>
                </c:pt>
                <c:pt idx="1">
                  <c:v>189.4</c:v>
                </c:pt>
                <c:pt idx="2">
                  <c:v>204.1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Prize money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8.7</c:v>
                </c:pt>
                <c:pt idx="2">
                  <c:v>20.0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DE1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Top 12 players by Impact Score going into 2027 (runs/match)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Shubman Gill (GT)</c:v>
                </c:pt>
                <c:pt idx="1">
                  <c:v>Heinrich Klaasen (SRH)</c:v>
                </c:pt>
                <c:pt idx="2">
                  <c:v>Mohsin Khan (LSG)</c:v>
                </c:pt>
                <c:pt idx="3">
                  <c:v>Sai Sudharsan (GT)</c:v>
                </c:pt>
                <c:pt idx="4">
                  <c:v>Abhishek Sharma (SRH)</c:v>
                </c:pt>
                <c:pt idx="5">
                  <c:v>Virat Kohli (RCB)</c:v>
                </c:pt>
                <c:pt idx="6">
                  <c:v>Jason Holder (GT)</c:v>
                </c:pt>
                <c:pt idx="7">
                  <c:v>Jasprit Bumrah (MI)</c:v>
                </c:pt>
                <c:pt idx="8">
                  <c:v>Josh Inglis (LSG)</c:v>
                </c:pt>
                <c:pt idx="9">
                  <c:v>Bhuvneshwar Kumar (RCB)</c:v>
                </c:pt>
                <c:pt idx="10">
                  <c:v>Sunil Narine (KKR)</c:v>
                </c:pt>
                <c:pt idx="11">
                  <c:v>Vaibhav Sooryavanshi (RR)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</c:v>
                </c:pt>
                <c:pt idx="1">
                  <c:v>3.8</c:v>
                </c:pt>
                <c:pt idx="2">
                  <c:v>3.8</c:v>
                </c:pt>
                <c:pt idx="3">
                  <c:v>4.2</c:v>
                </c:pt>
                <c:pt idx="4">
                  <c:v>4.4</c:v>
                </c:pt>
                <c:pt idx="5">
                  <c:v>4.5</c:v>
                </c:pt>
                <c:pt idx="6">
                  <c:v>4.7</c:v>
                </c:pt>
                <c:pt idx="7">
                  <c:v>4.8</c:v>
                </c:pt>
                <c:pt idx="8">
                  <c:v>5.1</c:v>
                </c:pt>
                <c:pt idx="9">
                  <c:v>6.2</c:v>
                </c:pt>
                <c:pt idx="10">
                  <c:v>6.3</c:v>
                </c:pt>
                <c:pt idx="11">
                  <c:v>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 fair value (n=127)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B5B3AD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Sheet1!$A$2:$A$128</c:f>
              <c:numCache>
                <c:formatCode>General</c:formatCode>
                <c:ptCount val="127"/>
                <c:pt idx="0">
                  <c:v>2.61</c:v>
                </c:pt>
                <c:pt idx="1">
                  <c:v>0.0</c:v>
                </c:pt>
                <c:pt idx="2">
                  <c:v>1.55</c:v>
                </c:pt>
                <c:pt idx="3">
                  <c:v>0.48</c:v>
                </c:pt>
                <c:pt idx="4">
                  <c:v>3.3</c:v>
                </c:pt>
                <c:pt idx="5">
                  <c:v>0.89</c:v>
                </c:pt>
                <c:pt idx="6">
                  <c:v>1.87</c:v>
                </c:pt>
                <c:pt idx="7">
                  <c:v>2.37</c:v>
                </c:pt>
                <c:pt idx="8">
                  <c:v>0.99</c:v>
                </c:pt>
                <c:pt idx="9">
                  <c:v>0.02</c:v>
                </c:pt>
                <c:pt idx="10">
                  <c:v>-0.28</c:v>
                </c:pt>
                <c:pt idx="11">
                  <c:v>0.57</c:v>
                </c:pt>
                <c:pt idx="12">
                  <c:v>0.77</c:v>
                </c:pt>
                <c:pt idx="13">
                  <c:v>1.38</c:v>
                </c:pt>
                <c:pt idx="14">
                  <c:v>-0.49</c:v>
                </c:pt>
                <c:pt idx="15">
                  <c:v>-0.12</c:v>
                </c:pt>
                <c:pt idx="16">
                  <c:v>3.77</c:v>
                </c:pt>
                <c:pt idx="17">
                  <c:v>-0.49</c:v>
                </c:pt>
                <c:pt idx="18">
                  <c:v>-0.65</c:v>
                </c:pt>
                <c:pt idx="19">
                  <c:v>1.7</c:v>
                </c:pt>
                <c:pt idx="20">
                  <c:v>0.27</c:v>
                </c:pt>
                <c:pt idx="21">
                  <c:v>-0.79</c:v>
                </c:pt>
                <c:pt idx="22">
                  <c:v>-1.98</c:v>
                </c:pt>
                <c:pt idx="23">
                  <c:v>1.07</c:v>
                </c:pt>
                <c:pt idx="24">
                  <c:v>2.47</c:v>
                </c:pt>
                <c:pt idx="25">
                  <c:v>-1.68</c:v>
                </c:pt>
                <c:pt idx="26">
                  <c:v>0.41</c:v>
                </c:pt>
                <c:pt idx="27">
                  <c:v>1.38</c:v>
                </c:pt>
                <c:pt idx="28">
                  <c:v>-5.98</c:v>
                </c:pt>
                <c:pt idx="29">
                  <c:v>-1.42</c:v>
                </c:pt>
                <c:pt idx="30">
                  <c:v>-1.76</c:v>
                </c:pt>
                <c:pt idx="31">
                  <c:v>0.7</c:v>
                </c:pt>
                <c:pt idx="32">
                  <c:v>-0.26</c:v>
                </c:pt>
                <c:pt idx="33">
                  <c:v>-3.17</c:v>
                </c:pt>
                <c:pt idx="34">
                  <c:v>-0.46</c:v>
                </c:pt>
                <c:pt idx="35">
                  <c:v>-1.34</c:v>
                </c:pt>
                <c:pt idx="36">
                  <c:v>-2.57</c:v>
                </c:pt>
                <c:pt idx="37">
                  <c:v>-0.53</c:v>
                </c:pt>
                <c:pt idx="38">
                  <c:v>0.22</c:v>
                </c:pt>
                <c:pt idx="39">
                  <c:v>-1.64</c:v>
                </c:pt>
                <c:pt idx="40">
                  <c:v>-2.22</c:v>
                </c:pt>
                <c:pt idx="41">
                  <c:v>-2.13</c:v>
                </c:pt>
                <c:pt idx="42">
                  <c:v>-0.65</c:v>
                </c:pt>
                <c:pt idx="43">
                  <c:v>-3.67</c:v>
                </c:pt>
                <c:pt idx="44">
                  <c:v>-0.74</c:v>
                </c:pt>
                <c:pt idx="45">
                  <c:v>-0.04</c:v>
                </c:pt>
                <c:pt idx="46">
                  <c:v>-0.73</c:v>
                </c:pt>
                <c:pt idx="47">
                  <c:v>-1.51</c:v>
                </c:pt>
                <c:pt idx="48">
                  <c:v>-5.03</c:v>
                </c:pt>
                <c:pt idx="49">
                  <c:v>-2.14</c:v>
                </c:pt>
                <c:pt idx="50">
                  <c:v>-4.29</c:v>
                </c:pt>
                <c:pt idx="51">
                  <c:v>-5.19</c:v>
                </c:pt>
                <c:pt idx="52">
                  <c:v>-0.94</c:v>
                </c:pt>
                <c:pt idx="53">
                  <c:v>0.14</c:v>
                </c:pt>
                <c:pt idx="54">
                  <c:v>-3.11</c:v>
                </c:pt>
                <c:pt idx="55">
                  <c:v>-0.03</c:v>
                </c:pt>
                <c:pt idx="56">
                  <c:v>-2.16</c:v>
                </c:pt>
                <c:pt idx="57">
                  <c:v>-0.89</c:v>
                </c:pt>
                <c:pt idx="58">
                  <c:v>-0.94</c:v>
                </c:pt>
                <c:pt idx="59">
                  <c:v>-2.18</c:v>
                </c:pt>
                <c:pt idx="60">
                  <c:v>0.03</c:v>
                </c:pt>
                <c:pt idx="61">
                  <c:v>-1.82</c:v>
                </c:pt>
                <c:pt idx="62">
                  <c:v>-2.59</c:v>
                </c:pt>
                <c:pt idx="63">
                  <c:v>-1.23</c:v>
                </c:pt>
                <c:pt idx="64">
                  <c:v>-0.78</c:v>
                </c:pt>
                <c:pt idx="65">
                  <c:v>-3.29</c:v>
                </c:pt>
                <c:pt idx="66">
                  <c:v>1.16</c:v>
                </c:pt>
                <c:pt idx="67">
                  <c:v>0.47</c:v>
                </c:pt>
                <c:pt idx="68">
                  <c:v>4.65</c:v>
                </c:pt>
                <c:pt idx="69">
                  <c:v>4.47</c:v>
                </c:pt>
                <c:pt idx="70">
                  <c:v>5.93</c:v>
                </c:pt>
                <c:pt idx="71">
                  <c:v>-1.53</c:v>
                </c:pt>
                <c:pt idx="72">
                  <c:v>-2.41</c:v>
                </c:pt>
                <c:pt idx="73">
                  <c:v>-0.29</c:v>
                </c:pt>
                <c:pt idx="74">
                  <c:v>-1.69</c:v>
                </c:pt>
                <c:pt idx="75">
                  <c:v>1.92</c:v>
                </c:pt>
                <c:pt idx="76">
                  <c:v>0.22</c:v>
                </c:pt>
                <c:pt idx="77">
                  <c:v>-0.88</c:v>
                </c:pt>
                <c:pt idx="78">
                  <c:v>-0.08</c:v>
                </c:pt>
                <c:pt idx="79">
                  <c:v>-1.03</c:v>
                </c:pt>
                <c:pt idx="80">
                  <c:v>3.22</c:v>
                </c:pt>
                <c:pt idx="81">
                  <c:v>0.02</c:v>
                </c:pt>
                <c:pt idx="82">
                  <c:v>3.4</c:v>
                </c:pt>
                <c:pt idx="83">
                  <c:v>1.33</c:v>
                </c:pt>
                <c:pt idx="84">
                  <c:v>1.12</c:v>
                </c:pt>
                <c:pt idx="85">
                  <c:v>0.26</c:v>
                </c:pt>
                <c:pt idx="86">
                  <c:v>1.73</c:v>
                </c:pt>
                <c:pt idx="87">
                  <c:v>1.28</c:v>
                </c:pt>
                <c:pt idx="88">
                  <c:v>-0.41</c:v>
                </c:pt>
                <c:pt idx="89">
                  <c:v>-0.23</c:v>
                </c:pt>
                <c:pt idx="90">
                  <c:v>-0.85</c:v>
                </c:pt>
                <c:pt idx="91">
                  <c:v>0.22</c:v>
                </c:pt>
                <c:pt idx="92">
                  <c:v>-0.18</c:v>
                </c:pt>
                <c:pt idx="93">
                  <c:v>0.03</c:v>
                </c:pt>
                <c:pt idx="94">
                  <c:v>0.01</c:v>
                </c:pt>
                <c:pt idx="95">
                  <c:v>-0.98</c:v>
                </c:pt>
                <c:pt idx="96">
                  <c:v>-2.38</c:v>
                </c:pt>
                <c:pt idx="97">
                  <c:v>-0.51</c:v>
                </c:pt>
                <c:pt idx="98">
                  <c:v>-2.12</c:v>
                </c:pt>
                <c:pt idx="99">
                  <c:v>-4.12</c:v>
                </c:pt>
                <c:pt idx="100">
                  <c:v>-0.48</c:v>
                </c:pt>
                <c:pt idx="101">
                  <c:v>0.52</c:v>
                </c:pt>
                <c:pt idx="102">
                  <c:v>-2.13</c:v>
                </c:pt>
                <c:pt idx="103">
                  <c:v>1.62</c:v>
                </c:pt>
                <c:pt idx="104">
                  <c:v>-1.03</c:v>
                </c:pt>
                <c:pt idx="105">
                  <c:v>0.15</c:v>
                </c:pt>
                <c:pt idx="106">
                  <c:v>-1.41</c:v>
                </c:pt>
                <c:pt idx="107">
                  <c:v>-2.73</c:v>
                </c:pt>
                <c:pt idx="108">
                  <c:v>-2.79</c:v>
                </c:pt>
                <c:pt idx="109">
                  <c:v>0.69</c:v>
                </c:pt>
                <c:pt idx="110">
                  <c:v>-1.02</c:v>
                </c:pt>
                <c:pt idx="111">
                  <c:v>1.44</c:v>
                </c:pt>
                <c:pt idx="112">
                  <c:v>-1.04</c:v>
                </c:pt>
                <c:pt idx="113">
                  <c:v>-1.76</c:v>
                </c:pt>
                <c:pt idx="114">
                  <c:v>-0.56</c:v>
                </c:pt>
                <c:pt idx="115">
                  <c:v>-0.59</c:v>
                </c:pt>
                <c:pt idx="116">
                  <c:v>-0.7</c:v>
                </c:pt>
                <c:pt idx="117">
                  <c:v>-0.17</c:v>
                </c:pt>
                <c:pt idx="118">
                  <c:v>-2.21</c:v>
                </c:pt>
                <c:pt idx="119">
                  <c:v>-3.82</c:v>
                </c:pt>
                <c:pt idx="120">
                  <c:v>-1.83</c:v>
                </c:pt>
                <c:pt idx="121">
                  <c:v>-3.27</c:v>
                </c:pt>
                <c:pt idx="122">
                  <c:v>0.1</c:v>
                </c:pt>
                <c:pt idx="123">
                  <c:v>-3.23</c:v>
                </c:pt>
                <c:pt idx="124">
                  <c:v>-1.98</c:v>
                </c:pt>
                <c:pt idx="125">
                  <c:v>0.41</c:v>
                </c:pt>
                <c:pt idx="126">
                  <c:v>1.78</c:v>
                </c:pt>
              </c:numCache>
            </c:numRef>
          </c:xVal>
          <c:yVal>
            <c:numRef>
              <c:f>Sheet1!$B$2:$B$128</c:f>
              <c:numCache>
                <c:formatCode>General</c:formatCode>
                <c:ptCount val="127"/>
                <c:pt idx="0">
                  <c:v>8.25</c:v>
                </c:pt>
                <c:pt idx="1">
                  <c:v>5.0</c:v>
                </c:pt>
                <c:pt idx="2">
                  <c:v>8.0</c:v>
                </c:pt>
                <c:pt idx="3">
                  <c:v>6.25</c:v>
                </c:pt>
                <c:pt idx="4">
                  <c:v>7.0</c:v>
                </c:pt>
                <c:pt idx="5">
                  <c:v>6.75</c:v>
                </c:pt>
                <c:pt idx="6">
                  <c:v>6.25</c:v>
                </c:pt>
                <c:pt idx="7">
                  <c:v>4.6</c:v>
                </c:pt>
                <c:pt idx="8">
                  <c:v>8.5</c:v>
                </c:pt>
                <c:pt idx="9">
                  <c:v>2.0</c:v>
                </c:pt>
                <c:pt idx="10">
                  <c:v>2.0</c:v>
                </c:pt>
                <c:pt idx="11">
                  <c:v>7.75</c:v>
                </c:pt>
                <c:pt idx="12">
                  <c:v>4.4</c:v>
                </c:pt>
                <c:pt idx="13">
                  <c:v>8.75</c:v>
                </c:pt>
                <c:pt idx="14">
                  <c:v>5.75</c:v>
                </c:pt>
                <c:pt idx="15">
                  <c:v>6.75</c:v>
                </c:pt>
                <c:pt idx="16">
                  <c:v>6.75</c:v>
                </c:pt>
                <c:pt idx="17">
                  <c:v>5.5</c:v>
                </c:pt>
                <c:pt idx="18">
                  <c:v>4.0</c:v>
                </c:pt>
                <c:pt idx="19">
                  <c:v>10.0</c:v>
                </c:pt>
                <c:pt idx="20">
                  <c:v>4.2</c:v>
                </c:pt>
                <c:pt idx="21">
                  <c:v>2.0</c:v>
                </c:pt>
                <c:pt idx="22">
                  <c:v>2.0</c:v>
                </c:pt>
                <c:pt idx="23">
                  <c:v>5.25</c:v>
                </c:pt>
                <c:pt idx="24">
                  <c:v>6.5</c:v>
                </c:pt>
                <c:pt idx="25">
                  <c:v>1.1</c:v>
                </c:pt>
                <c:pt idx="26">
                  <c:v>2.4</c:v>
                </c:pt>
                <c:pt idx="27">
                  <c:v>2.0</c:v>
                </c:pt>
                <c:pt idx="28">
                  <c:v>0.5</c:v>
                </c:pt>
                <c:pt idx="29">
                  <c:v>1.6</c:v>
                </c:pt>
                <c:pt idx="30">
                  <c:v>0.75</c:v>
                </c:pt>
                <c:pt idx="31">
                  <c:v>2.6</c:v>
                </c:pt>
                <c:pt idx="32">
                  <c:v>4.0</c:v>
                </c:pt>
                <c:pt idx="33">
                  <c:v>0.9</c:v>
                </c:pt>
                <c:pt idx="34">
                  <c:v>5.25</c:v>
                </c:pt>
                <c:pt idx="35">
                  <c:v>4.2</c:v>
                </c:pt>
                <c:pt idx="36">
                  <c:v>1.3</c:v>
                </c:pt>
                <c:pt idx="37">
                  <c:v>0.65</c:v>
                </c:pt>
                <c:pt idx="38">
                  <c:v>0.95</c:v>
                </c:pt>
                <c:pt idx="39">
                  <c:v>2.6</c:v>
                </c:pt>
                <c:pt idx="40">
                  <c:v>1.9</c:v>
                </c:pt>
                <c:pt idx="41">
                  <c:v>0.5</c:v>
                </c:pt>
                <c:pt idx="42">
                  <c:v>2.4</c:v>
                </c:pt>
                <c:pt idx="43">
                  <c:v>1.0</c:v>
                </c:pt>
                <c:pt idx="44">
                  <c:v>3.0</c:v>
                </c:pt>
                <c:pt idx="45">
                  <c:v>1.9</c:v>
                </c:pt>
                <c:pt idx="46">
                  <c:v>3.6</c:v>
                </c:pt>
                <c:pt idx="47">
                  <c:v>1.5</c:v>
                </c:pt>
                <c:pt idx="48">
                  <c:v>2.0</c:v>
                </c:pt>
                <c:pt idx="49">
                  <c:v>2.0</c:v>
                </c:pt>
                <c:pt idx="50">
                  <c:v>0.5</c:v>
                </c:pt>
                <c:pt idx="51">
                  <c:v>1.5</c:v>
                </c:pt>
                <c:pt idx="52">
                  <c:v>0.9</c:v>
                </c:pt>
                <c:pt idx="53">
                  <c:v>1.2</c:v>
                </c:pt>
                <c:pt idx="54">
                  <c:v>0.6</c:v>
                </c:pt>
                <c:pt idx="55">
                  <c:v>2.4</c:v>
                </c:pt>
                <c:pt idx="56">
                  <c:v>1.0</c:v>
                </c:pt>
                <c:pt idx="57">
                  <c:v>1.5</c:v>
                </c:pt>
                <c:pt idx="58">
                  <c:v>1.5</c:v>
                </c:pt>
                <c:pt idx="59">
                  <c:v>4.0</c:v>
                </c:pt>
                <c:pt idx="60">
                  <c:v>7.4</c:v>
                </c:pt>
                <c:pt idx="61">
                  <c:v>4.0</c:v>
                </c:pt>
                <c:pt idx="62">
                  <c:v>1.6</c:v>
                </c:pt>
                <c:pt idx="63">
                  <c:v>2.0</c:v>
                </c:pt>
                <c:pt idx="64">
                  <c:v>2.0</c:v>
                </c:pt>
                <c:pt idx="65">
                  <c:v>1.5</c:v>
                </c:pt>
                <c:pt idx="66">
                  <c:v>8.75</c:v>
                </c:pt>
                <c:pt idx="67">
                  <c:v>7.5</c:v>
                </c:pt>
                <c:pt idx="68">
                  <c:v>10.0</c:v>
                </c:pt>
                <c:pt idx="69">
                  <c:v>6.25</c:v>
                </c:pt>
                <c:pt idx="70">
                  <c:v>9.0</c:v>
                </c:pt>
                <c:pt idx="71">
                  <c:v>2.0</c:v>
                </c:pt>
                <c:pt idx="72">
                  <c:v>2.0</c:v>
                </c:pt>
                <c:pt idx="73">
                  <c:v>3.4</c:v>
                </c:pt>
                <c:pt idx="74">
                  <c:v>3.4</c:v>
                </c:pt>
                <c:pt idx="75">
                  <c:v>4.2</c:v>
                </c:pt>
                <c:pt idx="76">
                  <c:v>8.0</c:v>
                </c:pt>
                <c:pt idx="77">
                  <c:v>4.0</c:v>
                </c:pt>
                <c:pt idx="78">
                  <c:v>3.6</c:v>
                </c:pt>
                <c:pt idx="79">
                  <c:v>2.0</c:v>
                </c:pt>
                <c:pt idx="80">
                  <c:v>11.5</c:v>
                </c:pt>
                <c:pt idx="81">
                  <c:v>4.8</c:v>
                </c:pt>
                <c:pt idx="82">
                  <c:v>12.5</c:v>
                </c:pt>
                <c:pt idx="83">
                  <c:v>9.5</c:v>
                </c:pt>
                <c:pt idx="84">
                  <c:v>10.0</c:v>
                </c:pt>
                <c:pt idx="85">
                  <c:v>3.2</c:v>
                </c:pt>
                <c:pt idx="86">
                  <c:v>5.25</c:v>
                </c:pt>
                <c:pt idx="87">
                  <c:v>4.4</c:v>
                </c:pt>
                <c:pt idx="88">
                  <c:v>1.5</c:v>
                </c:pt>
                <c:pt idx="89">
                  <c:v>1.7</c:v>
                </c:pt>
                <c:pt idx="90">
                  <c:v>1.2</c:v>
                </c:pt>
                <c:pt idx="91">
                  <c:v>1.8</c:v>
                </c:pt>
                <c:pt idx="92">
                  <c:v>1.2</c:v>
                </c:pt>
                <c:pt idx="93">
                  <c:v>2.2</c:v>
                </c:pt>
                <c:pt idx="94">
                  <c:v>1.5</c:v>
                </c:pt>
                <c:pt idx="95">
                  <c:v>1.6</c:v>
                </c:pt>
                <c:pt idx="96">
                  <c:v>1.8</c:v>
                </c:pt>
                <c:pt idx="97">
                  <c:v>2.6</c:v>
                </c:pt>
                <c:pt idx="98">
                  <c:v>0.5</c:v>
                </c:pt>
                <c:pt idx="99">
                  <c:v>2.4</c:v>
                </c:pt>
                <c:pt idx="100">
                  <c:v>5.75</c:v>
                </c:pt>
                <c:pt idx="101">
                  <c:v>4.2</c:v>
                </c:pt>
                <c:pt idx="102">
                  <c:v>3.2</c:v>
                </c:pt>
                <c:pt idx="103">
                  <c:v>9.25</c:v>
                </c:pt>
                <c:pt idx="104">
                  <c:v>2.4</c:v>
                </c:pt>
                <c:pt idx="105">
                  <c:v>6.5</c:v>
                </c:pt>
                <c:pt idx="106">
                  <c:v>2.0</c:v>
                </c:pt>
                <c:pt idx="107">
                  <c:v>1.3</c:v>
                </c:pt>
                <c:pt idx="108">
                  <c:v>2.4</c:v>
                </c:pt>
                <c:pt idx="109">
                  <c:v>3.0</c:v>
                </c:pt>
                <c:pt idx="110">
                  <c:v>1.7</c:v>
                </c:pt>
                <c:pt idx="111">
                  <c:v>5.25</c:v>
                </c:pt>
                <c:pt idx="112">
                  <c:v>2.4</c:v>
                </c:pt>
                <c:pt idx="113">
                  <c:v>1.5</c:v>
                </c:pt>
                <c:pt idx="114">
                  <c:v>2.8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1.0</c:v>
                </c:pt>
                <c:pt idx="120">
                  <c:v>2.0</c:v>
                </c:pt>
                <c:pt idx="121">
                  <c:v>2.0</c:v>
                </c:pt>
                <c:pt idx="122">
                  <c:v>5.2</c:v>
                </c:pt>
                <c:pt idx="123">
                  <c:v>0.3</c:v>
                </c:pt>
                <c:pt idx="124">
                  <c:v>1.5</c:v>
                </c:pt>
                <c:pt idx="125">
                  <c:v>2.0</c:v>
                </c:pt>
                <c:pt idx="126">
                  <c:v>9.2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Sheet1!$B$130</c:f>
              <c:strCache>
                <c:ptCount val="1"/>
                <c:pt idx="0">
                  <c:v>Overpriced (paid &gt; 2x fair) (n=78)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C83A3A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Sheet1!$A$131:$A$208</c:f>
              <c:numCache>
                <c:formatCode>General</c:formatCode>
                <c:ptCount val="78"/>
                <c:pt idx="0">
                  <c:v>-0.92</c:v>
                </c:pt>
                <c:pt idx="1">
                  <c:v>0.72</c:v>
                </c:pt>
                <c:pt idx="2">
                  <c:v>-1.14</c:v>
                </c:pt>
                <c:pt idx="3">
                  <c:v>0.45</c:v>
                </c:pt>
                <c:pt idx="4">
                  <c:v>0.25</c:v>
                </c:pt>
                <c:pt idx="5">
                  <c:v>-0.07</c:v>
                </c:pt>
                <c:pt idx="6">
                  <c:v>-1.27</c:v>
                </c:pt>
                <c:pt idx="7">
                  <c:v>2.58</c:v>
                </c:pt>
                <c:pt idx="8">
                  <c:v>0.42</c:v>
                </c:pt>
                <c:pt idx="9">
                  <c:v>0.88</c:v>
                </c:pt>
                <c:pt idx="10">
                  <c:v>-2.92</c:v>
                </c:pt>
                <c:pt idx="11">
                  <c:v>-0.09</c:v>
                </c:pt>
                <c:pt idx="12">
                  <c:v>-0.33</c:v>
                </c:pt>
                <c:pt idx="13">
                  <c:v>0.5</c:v>
                </c:pt>
                <c:pt idx="14">
                  <c:v>-1.37</c:v>
                </c:pt>
                <c:pt idx="15">
                  <c:v>-0.26</c:v>
                </c:pt>
                <c:pt idx="16">
                  <c:v>0.19</c:v>
                </c:pt>
                <c:pt idx="17">
                  <c:v>1.87</c:v>
                </c:pt>
                <c:pt idx="18">
                  <c:v>-1.8</c:v>
                </c:pt>
                <c:pt idx="19">
                  <c:v>-0.44</c:v>
                </c:pt>
                <c:pt idx="20">
                  <c:v>-2.29</c:v>
                </c:pt>
                <c:pt idx="21">
                  <c:v>1.14</c:v>
                </c:pt>
                <c:pt idx="22">
                  <c:v>-1.18</c:v>
                </c:pt>
                <c:pt idx="23">
                  <c:v>1.54</c:v>
                </c:pt>
                <c:pt idx="24">
                  <c:v>-2.72</c:v>
                </c:pt>
                <c:pt idx="25">
                  <c:v>-0.72</c:v>
                </c:pt>
                <c:pt idx="26">
                  <c:v>-0.13</c:v>
                </c:pt>
                <c:pt idx="27">
                  <c:v>0.55</c:v>
                </c:pt>
                <c:pt idx="28">
                  <c:v>-1.32</c:v>
                </c:pt>
                <c:pt idx="29">
                  <c:v>-2.21</c:v>
                </c:pt>
                <c:pt idx="30">
                  <c:v>0.3</c:v>
                </c:pt>
                <c:pt idx="31">
                  <c:v>-1.86</c:v>
                </c:pt>
                <c:pt idx="32">
                  <c:v>-1.34</c:v>
                </c:pt>
                <c:pt idx="33">
                  <c:v>-1.81</c:v>
                </c:pt>
                <c:pt idx="34">
                  <c:v>-0.45</c:v>
                </c:pt>
                <c:pt idx="35">
                  <c:v>-2.6</c:v>
                </c:pt>
                <c:pt idx="36">
                  <c:v>-2.88</c:v>
                </c:pt>
                <c:pt idx="37">
                  <c:v>-5.19</c:v>
                </c:pt>
                <c:pt idx="38">
                  <c:v>-0.32</c:v>
                </c:pt>
                <c:pt idx="39">
                  <c:v>1.79</c:v>
                </c:pt>
                <c:pt idx="40">
                  <c:v>0.88</c:v>
                </c:pt>
                <c:pt idx="41">
                  <c:v>2.81</c:v>
                </c:pt>
                <c:pt idx="42">
                  <c:v>0.38</c:v>
                </c:pt>
                <c:pt idx="43">
                  <c:v>-0.22</c:v>
                </c:pt>
                <c:pt idx="44">
                  <c:v>0.26</c:v>
                </c:pt>
                <c:pt idx="45">
                  <c:v>1.17</c:v>
                </c:pt>
                <c:pt idx="46">
                  <c:v>1.07</c:v>
                </c:pt>
                <c:pt idx="47">
                  <c:v>0.65</c:v>
                </c:pt>
                <c:pt idx="48">
                  <c:v>-2.18</c:v>
                </c:pt>
                <c:pt idx="49">
                  <c:v>0.08</c:v>
                </c:pt>
                <c:pt idx="50">
                  <c:v>0.94</c:v>
                </c:pt>
                <c:pt idx="51">
                  <c:v>0.62</c:v>
                </c:pt>
                <c:pt idx="52">
                  <c:v>0.05</c:v>
                </c:pt>
                <c:pt idx="53">
                  <c:v>-0.13</c:v>
                </c:pt>
                <c:pt idx="54">
                  <c:v>-4.44</c:v>
                </c:pt>
                <c:pt idx="55">
                  <c:v>1.64</c:v>
                </c:pt>
                <c:pt idx="56">
                  <c:v>0.25</c:v>
                </c:pt>
                <c:pt idx="57">
                  <c:v>0.8</c:v>
                </c:pt>
                <c:pt idx="58">
                  <c:v>-3.35</c:v>
                </c:pt>
                <c:pt idx="59">
                  <c:v>-0.72</c:v>
                </c:pt>
                <c:pt idx="60">
                  <c:v>-0.17</c:v>
                </c:pt>
                <c:pt idx="61">
                  <c:v>-0.55</c:v>
                </c:pt>
                <c:pt idx="62">
                  <c:v>-1.29</c:v>
                </c:pt>
                <c:pt idx="63">
                  <c:v>-0.28</c:v>
                </c:pt>
                <c:pt idx="64">
                  <c:v>0.2</c:v>
                </c:pt>
                <c:pt idx="65">
                  <c:v>-2.15</c:v>
                </c:pt>
                <c:pt idx="66">
                  <c:v>-3.22</c:v>
                </c:pt>
                <c:pt idx="67">
                  <c:v>-2.99</c:v>
                </c:pt>
                <c:pt idx="68">
                  <c:v>0.36</c:v>
                </c:pt>
                <c:pt idx="69">
                  <c:v>-1.15</c:v>
                </c:pt>
                <c:pt idx="70">
                  <c:v>-3.3</c:v>
                </c:pt>
                <c:pt idx="71">
                  <c:v>0.85</c:v>
                </c:pt>
                <c:pt idx="72">
                  <c:v>0.48</c:v>
                </c:pt>
                <c:pt idx="73">
                  <c:v>-0.53</c:v>
                </c:pt>
                <c:pt idx="74">
                  <c:v>2.3</c:v>
                </c:pt>
                <c:pt idx="75">
                  <c:v>-1.89</c:v>
                </c:pt>
                <c:pt idx="76">
                  <c:v>-3.36</c:v>
                </c:pt>
                <c:pt idx="77">
                  <c:v>0.21</c:v>
                </c:pt>
              </c:numCache>
            </c:numRef>
          </c:xVal>
          <c:yVal>
            <c:numRef>
              <c:f>Sheet1!$B$131:$B$208</c:f>
              <c:numCache>
                <c:formatCode>General</c:formatCode>
                <c:ptCount val="78"/>
                <c:pt idx="0">
                  <c:v>7.25</c:v>
                </c:pt>
                <c:pt idx="1">
                  <c:v>9.25</c:v>
                </c:pt>
                <c:pt idx="2">
                  <c:v>12.25</c:v>
                </c:pt>
                <c:pt idx="3">
                  <c:v>8.0</c:v>
                </c:pt>
                <c:pt idx="4">
                  <c:v>10.75</c:v>
                </c:pt>
                <c:pt idx="5">
                  <c:v>8.75</c:v>
                </c:pt>
                <c:pt idx="6">
                  <c:v>8.25</c:v>
                </c:pt>
                <c:pt idx="7">
                  <c:v>15.25</c:v>
                </c:pt>
                <c:pt idx="8">
                  <c:v>10.75</c:v>
                </c:pt>
                <c:pt idx="9">
                  <c:v>14.0</c:v>
                </c:pt>
                <c:pt idx="10">
                  <c:v>10.0</c:v>
                </c:pt>
                <c:pt idx="11">
                  <c:v>7.75</c:v>
                </c:pt>
                <c:pt idx="12">
                  <c:v>10.75</c:v>
                </c:pt>
                <c:pt idx="13">
                  <c:v>8.5</c:v>
                </c:pt>
                <c:pt idx="14">
                  <c:v>3.8</c:v>
                </c:pt>
                <c:pt idx="15">
                  <c:v>6.5</c:v>
                </c:pt>
                <c:pt idx="16">
                  <c:v>9.0</c:v>
                </c:pt>
                <c:pt idx="17">
                  <c:v>7.25</c:v>
                </c:pt>
                <c:pt idx="18">
                  <c:v>9.0</c:v>
                </c:pt>
                <c:pt idx="19">
                  <c:v>3.8</c:v>
                </c:pt>
                <c:pt idx="20">
                  <c:v>4.0</c:v>
                </c:pt>
                <c:pt idx="21">
                  <c:v>10.0</c:v>
                </c:pt>
                <c:pt idx="22">
                  <c:v>11.5</c:v>
                </c:pt>
                <c:pt idx="23">
                  <c:v>8.25</c:v>
                </c:pt>
                <c:pt idx="24">
                  <c:v>18.5</c:v>
                </c:pt>
                <c:pt idx="25">
                  <c:v>5.75</c:v>
                </c:pt>
                <c:pt idx="26">
                  <c:v>16.25</c:v>
                </c:pt>
                <c:pt idx="27">
                  <c:v>16.0</c:v>
                </c:pt>
                <c:pt idx="28">
                  <c:v>6.0</c:v>
                </c:pt>
                <c:pt idx="29">
                  <c:v>20.5</c:v>
                </c:pt>
                <c:pt idx="30">
                  <c:v>11.75</c:v>
                </c:pt>
                <c:pt idx="31">
                  <c:v>11.5</c:v>
                </c:pt>
                <c:pt idx="32">
                  <c:v>5.8</c:v>
                </c:pt>
                <c:pt idx="33">
                  <c:v>6.4</c:v>
                </c:pt>
                <c:pt idx="34">
                  <c:v>7.4</c:v>
                </c:pt>
                <c:pt idx="35">
                  <c:v>5.0</c:v>
                </c:pt>
                <c:pt idx="36">
                  <c:v>5.0</c:v>
                </c:pt>
                <c:pt idx="37">
                  <c:v>5.0</c:v>
                </c:pt>
                <c:pt idx="38">
                  <c:v>8.0</c:v>
                </c:pt>
                <c:pt idx="39">
                  <c:v>15.75</c:v>
                </c:pt>
                <c:pt idx="40">
                  <c:v>26.75</c:v>
                </c:pt>
                <c:pt idx="41">
                  <c:v>27.0</c:v>
                </c:pt>
                <c:pt idx="42">
                  <c:v>10.75</c:v>
                </c:pt>
                <c:pt idx="43">
                  <c:v>18.0</c:v>
                </c:pt>
                <c:pt idx="44">
                  <c:v>11.75</c:v>
                </c:pt>
                <c:pt idx="45">
                  <c:v>18.0</c:v>
                </c:pt>
                <c:pt idx="46">
                  <c:v>14.0</c:v>
                </c:pt>
                <c:pt idx="47">
                  <c:v>12.25</c:v>
                </c:pt>
                <c:pt idx="48">
                  <c:v>6.25</c:v>
                </c:pt>
                <c:pt idx="49">
                  <c:v>9.75</c:v>
                </c:pt>
                <c:pt idx="50">
                  <c:v>23.75</c:v>
                </c:pt>
                <c:pt idx="51">
                  <c:v>11.0</c:v>
                </c:pt>
                <c:pt idx="52">
                  <c:v>11.25</c:v>
                </c:pt>
                <c:pt idx="53">
                  <c:v>11.0</c:v>
                </c:pt>
                <c:pt idx="54">
                  <c:v>12.5</c:v>
                </c:pt>
                <c:pt idx="55">
                  <c:v>12.5</c:v>
                </c:pt>
                <c:pt idx="56">
                  <c:v>9.75</c:v>
                </c:pt>
                <c:pt idx="57">
                  <c:v>10.75</c:v>
                </c:pt>
                <c:pt idx="58">
                  <c:v>6.5</c:v>
                </c:pt>
                <c:pt idx="59">
                  <c:v>3.2</c:v>
                </c:pt>
                <c:pt idx="60">
                  <c:v>3.0</c:v>
                </c:pt>
                <c:pt idx="61">
                  <c:v>4.2</c:v>
                </c:pt>
                <c:pt idx="62">
                  <c:v>5.25</c:v>
                </c:pt>
                <c:pt idx="63">
                  <c:v>4.2</c:v>
                </c:pt>
                <c:pt idx="64">
                  <c:v>3.8</c:v>
                </c:pt>
                <c:pt idx="65">
                  <c:v>6.0</c:v>
                </c:pt>
                <c:pt idx="66">
                  <c:v>7.0</c:v>
                </c:pt>
                <c:pt idx="67">
                  <c:v>8.0</c:v>
                </c:pt>
                <c:pt idx="68">
                  <c:v>10.75</c:v>
                </c:pt>
                <c:pt idx="69">
                  <c:v>8.0</c:v>
                </c:pt>
                <c:pt idx="70">
                  <c:v>3.4</c:v>
                </c:pt>
                <c:pt idx="71">
                  <c:v>25.2</c:v>
                </c:pt>
                <c:pt idx="72">
                  <c:v>7.0</c:v>
                </c:pt>
                <c:pt idx="73">
                  <c:v>13.0</c:v>
                </c:pt>
                <c:pt idx="74">
                  <c:v>18.0</c:v>
                </c:pt>
                <c:pt idx="75">
                  <c:v>7.2</c:v>
                </c:pt>
                <c:pt idx="76">
                  <c:v>7.0</c:v>
                </c:pt>
                <c:pt idx="77">
                  <c:v>8.6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Sheet1!$B$210</c:f>
              <c:strCache>
                <c:ptCount val="1"/>
                <c:pt idx="0">
                  <c:v>Underpriced (paid &lt; 50% of fair) (n=79)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Sheet1!$A$211:$A$289</c:f>
              <c:numCache>
                <c:formatCode>General</c:formatCode>
                <c:ptCount val="79"/>
                <c:pt idx="0">
                  <c:v>-1.52</c:v>
                </c:pt>
                <c:pt idx="1">
                  <c:v>-0.15</c:v>
                </c:pt>
                <c:pt idx="2">
                  <c:v>-3.01</c:v>
                </c:pt>
                <c:pt idx="3">
                  <c:v>-5.6</c:v>
                </c:pt>
                <c:pt idx="4">
                  <c:v>-1.93</c:v>
                </c:pt>
                <c:pt idx="5">
                  <c:v>-0.96</c:v>
                </c:pt>
                <c:pt idx="6">
                  <c:v>-0.81</c:v>
                </c:pt>
                <c:pt idx="7">
                  <c:v>-0.06</c:v>
                </c:pt>
                <c:pt idx="8">
                  <c:v>-0.86</c:v>
                </c:pt>
                <c:pt idx="9">
                  <c:v>-1.16</c:v>
                </c:pt>
                <c:pt idx="10">
                  <c:v>-1.3</c:v>
                </c:pt>
                <c:pt idx="11">
                  <c:v>7.38</c:v>
                </c:pt>
                <c:pt idx="12">
                  <c:v>-0.69</c:v>
                </c:pt>
                <c:pt idx="13">
                  <c:v>1.26</c:v>
                </c:pt>
                <c:pt idx="14">
                  <c:v>-0.37</c:v>
                </c:pt>
                <c:pt idx="15">
                  <c:v>-2.29</c:v>
                </c:pt>
                <c:pt idx="16">
                  <c:v>-1.15</c:v>
                </c:pt>
                <c:pt idx="17">
                  <c:v>0.6</c:v>
                </c:pt>
                <c:pt idx="18">
                  <c:v>-1.99</c:v>
                </c:pt>
                <c:pt idx="19">
                  <c:v>-0.72</c:v>
                </c:pt>
                <c:pt idx="20">
                  <c:v>-3.53</c:v>
                </c:pt>
                <c:pt idx="21">
                  <c:v>-0.55</c:v>
                </c:pt>
                <c:pt idx="22">
                  <c:v>-0.17</c:v>
                </c:pt>
                <c:pt idx="23">
                  <c:v>2.93</c:v>
                </c:pt>
                <c:pt idx="24">
                  <c:v>-2.5</c:v>
                </c:pt>
                <c:pt idx="25">
                  <c:v>-2.01</c:v>
                </c:pt>
                <c:pt idx="26">
                  <c:v>-2.02</c:v>
                </c:pt>
                <c:pt idx="27">
                  <c:v>-2.45</c:v>
                </c:pt>
                <c:pt idx="28">
                  <c:v>-1.59</c:v>
                </c:pt>
                <c:pt idx="29">
                  <c:v>-0.89</c:v>
                </c:pt>
                <c:pt idx="30">
                  <c:v>-1.61</c:v>
                </c:pt>
                <c:pt idx="31">
                  <c:v>-0.96</c:v>
                </c:pt>
                <c:pt idx="32">
                  <c:v>-1.22</c:v>
                </c:pt>
                <c:pt idx="33">
                  <c:v>0.96</c:v>
                </c:pt>
                <c:pt idx="34">
                  <c:v>-0.45</c:v>
                </c:pt>
                <c:pt idx="35">
                  <c:v>-1.48</c:v>
                </c:pt>
                <c:pt idx="36">
                  <c:v>0.76</c:v>
                </c:pt>
                <c:pt idx="37">
                  <c:v>0.19</c:v>
                </c:pt>
                <c:pt idx="38">
                  <c:v>-0.58</c:v>
                </c:pt>
                <c:pt idx="39">
                  <c:v>-0.0</c:v>
                </c:pt>
                <c:pt idx="40">
                  <c:v>-2.36</c:v>
                </c:pt>
                <c:pt idx="41">
                  <c:v>-2.29</c:v>
                </c:pt>
                <c:pt idx="42">
                  <c:v>0.8</c:v>
                </c:pt>
                <c:pt idx="43">
                  <c:v>-1.52</c:v>
                </c:pt>
                <c:pt idx="44">
                  <c:v>-4.57</c:v>
                </c:pt>
                <c:pt idx="45">
                  <c:v>0.7</c:v>
                </c:pt>
                <c:pt idx="46">
                  <c:v>0.33</c:v>
                </c:pt>
                <c:pt idx="47">
                  <c:v>-1.43</c:v>
                </c:pt>
                <c:pt idx="48">
                  <c:v>-0.33</c:v>
                </c:pt>
                <c:pt idx="49">
                  <c:v>-1.22</c:v>
                </c:pt>
                <c:pt idx="50">
                  <c:v>0.07</c:v>
                </c:pt>
                <c:pt idx="51">
                  <c:v>3.22</c:v>
                </c:pt>
                <c:pt idx="52">
                  <c:v>-0.23</c:v>
                </c:pt>
                <c:pt idx="53">
                  <c:v>-0.98</c:v>
                </c:pt>
                <c:pt idx="54">
                  <c:v>-0.67</c:v>
                </c:pt>
                <c:pt idx="55">
                  <c:v>-1.17</c:v>
                </c:pt>
                <c:pt idx="56">
                  <c:v>1.31</c:v>
                </c:pt>
                <c:pt idx="57">
                  <c:v>-0.86</c:v>
                </c:pt>
                <c:pt idx="58">
                  <c:v>-0.77</c:v>
                </c:pt>
                <c:pt idx="59">
                  <c:v>-1.09</c:v>
                </c:pt>
                <c:pt idx="60">
                  <c:v>1.41</c:v>
                </c:pt>
                <c:pt idx="61">
                  <c:v>-1.12</c:v>
                </c:pt>
                <c:pt idx="62">
                  <c:v>1.86</c:v>
                </c:pt>
                <c:pt idx="63">
                  <c:v>2.02</c:v>
                </c:pt>
                <c:pt idx="64">
                  <c:v>-2.77</c:v>
                </c:pt>
                <c:pt idx="65">
                  <c:v>-0.32</c:v>
                </c:pt>
                <c:pt idx="66">
                  <c:v>-2.35</c:v>
                </c:pt>
                <c:pt idx="67">
                  <c:v>0.58</c:v>
                </c:pt>
                <c:pt idx="68">
                  <c:v>-0.28</c:v>
                </c:pt>
                <c:pt idx="69">
                  <c:v>-1.71</c:v>
                </c:pt>
                <c:pt idx="70">
                  <c:v>-2.77</c:v>
                </c:pt>
                <c:pt idx="71">
                  <c:v>1.56</c:v>
                </c:pt>
                <c:pt idx="72">
                  <c:v>-2.54</c:v>
                </c:pt>
                <c:pt idx="73">
                  <c:v>-1.42</c:v>
                </c:pt>
                <c:pt idx="74">
                  <c:v>-2.31</c:v>
                </c:pt>
                <c:pt idx="75">
                  <c:v>1.51</c:v>
                </c:pt>
                <c:pt idx="76">
                  <c:v>-2.41</c:v>
                </c:pt>
                <c:pt idx="77">
                  <c:v>-0.12</c:v>
                </c:pt>
                <c:pt idx="78">
                  <c:v>-1.28</c:v>
                </c:pt>
              </c:numCache>
            </c:numRef>
          </c:xVal>
          <c:yVal>
            <c:numRef>
              <c:f>Sheet1!$B$211:$B$289</c:f>
              <c:numCache>
                <c:formatCode>General</c:formatCode>
                <c:ptCount val="79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  <c:pt idx="5">
                  <c:v>1.0</c:v>
                </c:pt>
                <c:pt idx="6">
                  <c:v>1.1</c:v>
                </c:pt>
                <c:pt idx="7">
                  <c:v>1.7</c:v>
                </c:pt>
                <c:pt idx="8">
                  <c:v>1.4</c:v>
                </c:pt>
                <c:pt idx="9">
                  <c:v>0.5</c:v>
                </c:pt>
                <c:pt idx="10">
                  <c:v>0.5</c:v>
                </c:pt>
                <c:pt idx="11">
                  <c:v>8.0</c:v>
                </c:pt>
                <c:pt idx="12">
                  <c:v>1.0</c:v>
                </c:pt>
                <c:pt idx="13">
                  <c:v>1.9</c:v>
                </c:pt>
                <c:pt idx="14">
                  <c:v>0.75</c:v>
                </c:pt>
                <c:pt idx="15">
                  <c:v>0.5</c:v>
                </c:pt>
                <c:pt idx="16">
                  <c:v>0.5</c:v>
                </c:pt>
                <c:pt idx="17">
                  <c:v>2.0</c:v>
                </c:pt>
                <c:pt idx="18">
                  <c:v>0.75</c:v>
                </c:pt>
                <c:pt idx="19">
                  <c:v>0.5</c:v>
                </c:pt>
                <c:pt idx="20">
                  <c:v>0.5</c:v>
                </c:pt>
                <c:pt idx="21">
                  <c:v>1.0</c:v>
                </c:pt>
                <c:pt idx="22">
                  <c:v>1.5</c:v>
                </c:pt>
                <c:pt idx="23">
                  <c:v>2.0</c:v>
                </c:pt>
                <c:pt idx="24">
                  <c:v>0.75</c:v>
                </c:pt>
                <c:pt idx="25">
                  <c:v>0.75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0.75</c:v>
                </c:pt>
                <c:pt idx="32">
                  <c:v>0.5</c:v>
                </c:pt>
                <c:pt idx="33">
                  <c:v>0.5</c:v>
                </c:pt>
                <c:pt idx="34">
                  <c:v>0.2</c:v>
                </c:pt>
                <c:pt idx="35">
                  <c:v>0.5</c:v>
                </c:pt>
                <c:pt idx="36">
                  <c:v>1.5</c:v>
                </c:pt>
                <c:pt idx="37">
                  <c:v>0.5</c:v>
                </c:pt>
                <c:pt idx="38">
                  <c:v>0.5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2.0</c:v>
                </c:pt>
                <c:pt idx="43">
                  <c:v>0.5</c:v>
                </c:pt>
                <c:pt idx="44">
                  <c:v>0.2</c:v>
                </c:pt>
                <c:pt idx="45">
                  <c:v>2.4</c:v>
                </c:pt>
                <c:pt idx="46">
                  <c:v>0.3</c:v>
                </c:pt>
                <c:pt idx="47">
                  <c:v>0.3</c:v>
                </c:pt>
                <c:pt idx="48">
                  <c:v>0.3</c:v>
                </c:pt>
                <c:pt idx="49">
                  <c:v>0.3</c:v>
                </c:pt>
                <c:pt idx="50">
                  <c:v>0.3</c:v>
                </c:pt>
                <c:pt idx="51">
                  <c:v>2.0</c:v>
                </c:pt>
                <c:pt idx="52">
                  <c:v>1.5</c:v>
                </c:pt>
                <c:pt idx="53">
                  <c:v>1.5</c:v>
                </c:pt>
                <c:pt idx="54">
                  <c:v>0.3</c:v>
                </c:pt>
                <c:pt idx="55">
                  <c:v>0.4</c:v>
                </c:pt>
                <c:pt idx="56">
                  <c:v>0.5</c:v>
                </c:pt>
                <c:pt idx="57">
                  <c:v>0.3</c:v>
                </c:pt>
                <c:pt idx="58">
                  <c:v>0.3</c:v>
                </c:pt>
                <c:pt idx="59">
                  <c:v>0.75</c:v>
                </c:pt>
                <c:pt idx="60">
                  <c:v>2.0</c:v>
                </c:pt>
                <c:pt idx="61">
                  <c:v>0.75</c:v>
                </c:pt>
                <c:pt idx="62">
                  <c:v>0.75</c:v>
                </c:pt>
                <c:pt idx="63">
                  <c:v>1.6</c:v>
                </c:pt>
                <c:pt idx="64">
                  <c:v>1.0</c:v>
                </c:pt>
                <c:pt idx="65">
                  <c:v>0.35</c:v>
                </c:pt>
                <c:pt idx="66">
                  <c:v>0.3</c:v>
                </c:pt>
                <c:pt idx="67">
                  <c:v>2.0</c:v>
                </c:pt>
                <c:pt idx="68">
                  <c:v>0.8</c:v>
                </c:pt>
                <c:pt idx="69">
                  <c:v>0.75</c:v>
                </c:pt>
                <c:pt idx="70">
                  <c:v>0.75</c:v>
                </c:pt>
                <c:pt idx="71">
                  <c:v>2.0</c:v>
                </c:pt>
                <c:pt idx="72">
                  <c:v>0.75</c:v>
                </c:pt>
                <c:pt idx="73">
                  <c:v>0.75</c:v>
                </c:pt>
                <c:pt idx="74">
                  <c:v>1.0</c:v>
                </c:pt>
                <c:pt idx="75">
                  <c:v>0.3</c:v>
                </c:pt>
                <c:pt idx="76">
                  <c:v>0.75</c:v>
                </c:pt>
                <c:pt idx="77">
                  <c:v>0.75</c:v>
                </c:pt>
                <c:pt idx="78">
                  <c:v>0.4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-7.0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Impact Score at auction (runs/match vs average)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9643912"/>
        <c:crosses val="min"/>
        <c:crossBetween val="midCat"/>
      </c:valAx>
      <c:valAx>
        <c:axId val="-2129643912"/>
        <c:scaling>
          <c:logBase val="10"/>
          <c:orientation val="minMax"/>
          <c:max val="40.0"/>
          <c:min val="0.1"/>
        </c:scaling>
        <c:delete val="0"/>
        <c:axPos val="l"/>
        <c:majorGridlines>
          <c:spPr>
            <a:ln w="9525">
              <a:solidFill>
                <a:srgbClr val="DDE1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/>
                  <a:t>Price paid, Rs crore (log scale)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8940872"/>
        <c:crosses val="min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Bid ceiling vs likely price, Rs crore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Bid ceiling</c:v>
                </c:pt>
              </c:strCache>
            </c:strRef>
          </c:tx>
          <c:spPr>
            <a:solidFill>
              <a:srgbClr val="0E1B3D"/>
            </a:solidFill>
          </c:spPr>
          <c:cat>
            <c:strRef>
              <c:f>Sheet1!$A$2:$A$8</c:f>
              <c:strCache>
                <c:ptCount val="7"/>
                <c:pt idx="0">
                  <c:v>Kartik Sharma</c:v>
                </c:pt>
                <c:pt idx="1">
                  <c:v>MS Dhoni</c:v>
                </c:pt>
                <c:pt idx="2">
                  <c:v>Naman Dhir</c:v>
                </c:pt>
                <c:pt idx="3">
                  <c:v>Karn Sharma</c:v>
                </c:pt>
                <c:pt idx="4">
                  <c:v>Mahipal Lomror</c:v>
                </c:pt>
                <c:pt idx="5">
                  <c:v>Moeen Ali</c:v>
                </c:pt>
                <c:pt idx="6">
                  <c:v>Jonny Bairstow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1.14</c:v>
                </c:pt>
                <c:pt idx="1">
                  <c:v>1.08</c:v>
                </c:pt>
                <c:pt idx="2">
                  <c:v>1.1</c:v>
                </c:pt>
                <c:pt idx="3">
                  <c:v>3.23</c:v>
                </c:pt>
                <c:pt idx="4">
                  <c:v>1.22</c:v>
                </c:pt>
                <c:pt idx="5">
                  <c:v>4.14</c:v>
                </c:pt>
                <c:pt idx="6">
                  <c:v>5.16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Likely price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Kartik Sharma</c:v>
                </c:pt>
                <c:pt idx="1">
                  <c:v>MS Dhoni</c:v>
                </c:pt>
                <c:pt idx="2">
                  <c:v>Naman Dhir</c:v>
                </c:pt>
                <c:pt idx="3">
                  <c:v>Karn Sharma</c:v>
                </c:pt>
                <c:pt idx="4">
                  <c:v>Mahipal Lomror</c:v>
                </c:pt>
                <c:pt idx="5">
                  <c:v>Moeen Ali</c:v>
                </c:pt>
                <c:pt idx="6">
                  <c:v>Jonny Bairstow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2.54</c:v>
                </c:pt>
                <c:pt idx="1">
                  <c:v>1.78</c:v>
                </c:pt>
                <c:pt idx="2">
                  <c:v>1.98</c:v>
                </c:pt>
                <c:pt idx="3">
                  <c:v>1.7</c:v>
                </c:pt>
                <c:pt idx="4">
                  <c:v>1.48</c:v>
                </c:pt>
                <c:pt idx="5">
                  <c:v>5.63</c:v>
                </c:pt>
                <c:pt idx="6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for discussion. The analysis covers all ten franchises; this deck uses Royal Challengers Bengaluru as the illustrative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first. Three messages, then the numbers that back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 is money and slots, not ambition. That is why the release decisions come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inputs live in outputs/excel/franchise_model.xlsx with formulas; assumptions are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Score = runs a player adds per match vs a league-average player in the same phase and season, with wickets valued from a run-expectancy table and small samples shrunk toward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 value = typical price for the same impact, cap status and auction year. Mispricing = (fair - paid) /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Green: our k-th best player in the role ranks in the league's top 10k (starter quality for ten teams). Amber: top 15k. Red: below that, or too few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Made the 2026 playoffs (finished #2); protect the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 with rationale, risk and backup for every player: data/processed/recommendations.csv and the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likely price exceeds our ceiling, the plan substitutes the backup rather than overpay.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45% of a planned strength gain is realised on average; treat squad gains as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outputs are inputs to judgement, not a replacement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re-runs the same pipeline: python -m src.pipeline, then the app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m tag"/>
          <p:cNvSpPr/>
          <p:nvPr/>
        </p:nvSpPr>
        <p:spPr>
          <a:xfrm>
            <a:off x="548640" y="114300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RCB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Royal Challengers Bengaluru: </a:t>
            </a:r>
            <a:r>
              <a:rPr sz="4000" b="1" i="0">
                <a:solidFill>
                  <a:srgbClr val="FFFFFF"/>
                </a:solidFill>
                <a:latin typeface="Calibri"/>
              </a:rPr>
              <a:t>how to win now at the IPL 2027 auction and set up for the 2028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Squad strategy, purse allocation and bid ceilings, built from 295,732 deliveries and five years of auction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A0C8"/>
                </a:solidFill>
                <a:latin typeface="Calibri"/>
              </a:rPr>
              <a:t>Auction War Room  |  Draft for discussion  |  October 2026  |  Hypothetical engagement, not affiliated with the IPL or any franchise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Cut Rs 42 cr of low-return contracts, fix the middle-order gap with value buys, and keep firepower for the 2028 mega-auction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Wikipedia IPL auction tables 2022-26; team analysis; franchise P&amp;L model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733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Release what the output does not justify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13 releases free Rs 42 cr. The biggest contracts in the squad deliver below-average impact; the purse goes further on output the market underprices.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Buy for the gaps, not the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Red: middle-order; Amber: wrist spinner. 9 targets, each with a bid ceiling and a cheaper backup in the same role.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2027 is a bridge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It is the last season of the 2025-27 cycle. One-year value veterans now; the real rebuild happens in the 2028 mega-auction, when every franchise resets its purse.</a:t>
            </a:r>
          </a:p>
        </p:txBody>
      </p:sp>
      <p:sp>
        <p:nvSpPr>
          <p:cNvPr id="15" name="Stat panel"/>
          <p:cNvSpPr/>
          <p:nvPr/>
        </p:nvSpPr>
        <p:spPr>
          <a:xfrm>
            <a:off x="7818120" y="1600200"/>
            <a:ext cx="3822191" cy="44805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70% to 71%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13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playoff chance, current squad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6207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Rs 109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392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purse used of Rs 125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941064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+Rs 16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47141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expected operating profit, mostly lower wages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020056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74%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5504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of revenue is fixed central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SITUATION AND KEY QUESTION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Royal Challengers Bengaluru finished 2th in 2026 with Rs 0.2 cr left and no overseas slots: any upgrade has to be funded by releases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2026 league table; 2026 retention and auction records (Wikipedia)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3017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43000"/>
                <a:gridCol w="64008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SRH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C816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RCB</a:t>
                      </a:r>
                    </a:p>
                  </a:txBody>
                  <a:tcPr marL="73152" marR="73152" marT="27432" marB="27432" anchor="ctr">
                    <a:solidFill>
                      <a:srgbClr val="C816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C816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C816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PBKS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DC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KKR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CSK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LSG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2026 league stage (net run rate not shown)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Key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1B3D"/>
                </a:solidFill>
                <a:latin typeface="Calibri"/>
              </a:rPr>
              <a:t>How should Royal Challengers Bengaluru rebuild its squad and allocate its purse for the IPL 2027 auction to maximise wins and commercial value?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How does the franchise make money?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actually wins IPL matches?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does the auction misprice players?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5129784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846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is our squad weak?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the best squad we can afford?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exactly should we do?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it worth?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HOW THE FRANCHISE MAKES MONEY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74% of revenue is fixed central income: a title adds only Rs 42 cr, so cost discipline matters as much as winning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Media rights Rs 48,390 cr 2023-27; Tata title sponsorship; Houlihan Lokey 2025 brand values; BCCI 2026 prize money; team assumptions (see Excel model)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7498079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allouts"/>
          <p:cNvSpPr/>
          <p:nvPr/>
        </p:nvSpPr>
        <p:spPr>
          <a:xfrm>
            <a:off x="8321040" y="1691640"/>
            <a:ext cx="3319272" cy="41148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1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706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7743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revenue if the team misses the playoffs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172967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+Rs 42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extra revenue from winning the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7141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413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974335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operating profit (before any franchise fee)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WHAT WINS IPL MATCHES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Runs added versus an average player explain 53% of win %; early wickets are worth 7x late ones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run-expectancy model on 2023-26 first innings; 132 team-seasons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Powerplay (overs 1-6)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0512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5.8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Middle (7-15)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Death (16-20)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Impact Score, in one sentence: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runs a player adds per match compared with a league-average player in the same phase and season.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Validated: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a team's same-season total impact explains 53% of the variation in win % (+10 runs/match = about +7 points of win %).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Caveat: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only 45% of a planned strength gain shows up the next season.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480560" y="1600200"/>
          <a:ext cx="715975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WHERE THE MARKET MISPRICES PLAYERS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auction pays for reputation: a cap adds 157% to price, output only 24% per run, so specialists are mispriced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284 players sold at the 2022-26 auctions with an Impact Score; log-price regression (R² 0.30)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9494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Oval 6"/>
          <p:cNvSpPr/>
          <p:nvPr/>
        </p:nvSpPr>
        <p:spPr>
          <a:xfrm>
            <a:off x="7772400" y="1645920"/>
            <a:ext cx="384048" cy="384048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2763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Wrist spinners are the market's best value: they sell for 17% below fair value (median, n=17), while anchors sell for 2.5x fair value (n=24).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108960"/>
            <a:ext cx="384048" cy="384048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09067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Powerplay specialists sell for 18% below fair value, vs death specialists who sell for 1.3x fair value (n=96 / 102).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572000"/>
            <a:ext cx="384048" cy="384048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55371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Output is only part of the price: +1 run/match of impact adds 24% to price, but an international cap adds 157%; impact and profile explain just 30% of price variation.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OUR SQUAD GAPS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Royal Challengers Bengaluru has 1 Red and 1 Amber roles: middle-order, wrist spinner are where the purse should go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Role coverage of the 2026 squad vs league benchmarks (Impact Score, 2024-26 weighted)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822960"/>
                <a:gridCol w="493776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k-th best vs league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Players in squad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opener ranks 11 of 29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V Kohli, PD Salt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Anchor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anchor ranks 2 of 26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RM Patidar, VR Iyer, D Padikkal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Middle-order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 marL="73152" marR="73152" marT="27432" marB="27432" anchor="ctr">
                    <a:solidFill>
                      <a:srgbClr val="C83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Only 0 of 1 needed middle-order(s) in the squad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finisher ranks 20 of 30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TH David, KH Pandya, JM Sharma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Wicketkeeper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wicketkeeper ranks 9 of 32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PD Salt, JM Sharma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powerplay pacer ranks 14 of 42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JR Hazlewood, JA Duffy, Yash Dayal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death pacer ranks 5 of 33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 Kumar, N Thushara, Rasikh Salam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wrist spinner ranks 11 of 15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Suyash Sharma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finger spinner ranks 4 of 24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KH Pandya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All-rounder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all-rounder ranks 3 of 9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KH Pandya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Status cells are coloured and labelled. Venue: M Chinnaswamy Stadium, Bengaluru adjusts spin, pace and death weights in the optimiser.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RECOMMENDED AUCTION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Strategy: Win Now, with three moves for 2027 and the big rebuild held back for 2028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strategy model: role gaps, home-ground profile, 2026 finish and squad age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8</a:t>
            </a:r>
          </a:p>
        </p:txBody>
      </p:sp>
      <p:sp>
        <p:nvSpPr>
          <p:cNvPr id="6" name="Card 1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420624" cy="420624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Free the purse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Release 13 players (Rs 42 cr) whose salary sits well above what their output justifies.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Wage bill falls from Rs 125 cr to Rs 109 cr</a:t>
            </a:r>
          </a:p>
        </p:txBody>
      </p:sp>
      <p:sp>
        <p:nvSpPr>
          <p:cNvPr id="11" name="Card 2"/>
          <p:cNvSpPr/>
          <p:nvPr/>
        </p:nvSpPr>
        <p:spPr>
          <a:xfrm>
            <a:off x="4297679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920240"/>
            <a:ext cx="420624" cy="420624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Fix the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Spend first on middle-order, wrist spinner; every target has a walk-away ceiling and a backup.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9 targets, 1 of them starters</a:t>
            </a:r>
          </a:p>
        </p:txBody>
      </p:sp>
      <p:sp>
        <p:nvSpPr>
          <p:cNvPr id="16" name="Card 3"/>
          <p:cNvSpPr/>
          <p:nvPr/>
        </p:nvSpPr>
        <p:spPr>
          <a:xfrm>
            <a:off x="8046718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38" y="1920240"/>
            <a:ext cx="420624" cy="420624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Bridge to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Prefer one-year value veterans over long, expensive bets: the 2028 mega-auction resets every squad.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Mega-auction plan lifts playoff odds to 73%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Why this stance: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Made the 2026 playoffs (finished #2); protect the window. </a:t>
            </a:r>
            <a:r>
              <a:rPr sz="1300" b="1" i="0">
                <a:solidFill>
                  <a:srgbClr val="0E1B3D"/>
                </a:solidFill>
                <a:latin typeface="Calibri"/>
              </a:rPr>
              <a:t>Home ground: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M Chinnaswamy Stadium, Bengaluru; its spin, pace and death-over profile adjusts the role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PLAYER RECOMMENDATIONS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Buy 9 targets, led by Karn Sharma (wrist spinner) and Kartik Sharma (middle-order) for the gaps; retain 12, release 13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(PuLP) on 2027 mini-auction pool; fair value and likely price from market models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7266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234440"/>
                <a:gridCol w="640080"/>
                <a:gridCol w="960120"/>
                <a:gridCol w="914400"/>
                <a:gridCol w="100584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Buy target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Ceiling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Backup option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Jonny Bairstow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6.5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Jake Fraser-McGurk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Moeen Ali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5.6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Glenn Maxwell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Mahipal Lomror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Utility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Karn Sharma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1.7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Rahul Chahar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Naman Dhir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MS Dhoni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1.8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Kartik Sharma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Middle-order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Gurjapneet Singh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1.3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Simarjeet Singh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Squad decisions"/>
          <p:cNvSpPr/>
          <p:nvPr/>
        </p:nvSpPr>
        <p:spPr>
          <a:xfrm>
            <a:off x="8503920" y="1600200"/>
            <a:ext cx="3136392" cy="4343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Release (largest salaries)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Phil Salt  (Rs 11.5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Jitesh Sharma  (Rs 11.0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Mangesh Yadav  (Rs 5.2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Yash Dayal  (Rs 5.0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Suyash Sharma  (Rs 2.6 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Retain (highest impact)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Bhuvneshwar Kumar  (+6.2)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Virat Kohli  (+4.5)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Josh Hazlewood  (+3.4)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Rajat Patidar  (+3.2)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Nuwan Thushara  (+2.5)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alibri"/>
              </a:rPr>
              <a:t>Ceiling = fair value + premium for gap-filling roles (+15% Red, +5% Amber). Where the likely price is above the ceiling, bid only to the ceiling and move to the backup.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SCENARIOS AND BID CEILINGS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plan is robust: at +30% rival bidding the squad strength holds at 29.5 and playoff odds stay near 71%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re-run under Win Now / Long-Term weights and +10/20/30% rival price inflation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51560"/>
                <a:gridCol w="594360"/>
                <a:gridCol w="82296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Purse used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Buys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Playoff chance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109.3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29.5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+20%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111.7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29.5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114.1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29.5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+10%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122.5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31.1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122.8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31.1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+30%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123.7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31.1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600200"/>
          <a:ext cx="560527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EXPECTED IMPACT ON WINS AND REVENUE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Expected impact: playoff odds 70% to 71% and +Rs 16 cr expected profit, most of it from a leaner wage bill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Impact model: realised-strength regression (132 team-seasons), binomial over 14 games, probability-weighted P&amp;L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11</a:t>
            </a:r>
          </a:p>
        </p:txBody>
      </p:sp>
      <p:sp>
        <p:nvSpPr>
          <p:cNvPr id="6" name="Chain 1"/>
          <p:cNvSpPr/>
          <p:nvPr/>
        </p:nvSpPr>
        <p:spPr>
          <a:xfrm>
            <a:off x="548640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Squad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28.7 to 29.5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best-12 Impact, runs/match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ain 2"/>
          <p:cNvSpPr/>
          <p:nvPr/>
        </p:nvSpPr>
        <p:spPr>
          <a:xfrm>
            <a:off x="2807208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Win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57.2% to 57.5%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only 45% of planned gain realised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4608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in 3"/>
          <p:cNvSpPr/>
          <p:nvPr/>
        </p:nvSpPr>
        <p:spPr>
          <a:xfrm>
            <a:off x="5065776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Playoff chance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70% to 71%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 wins usually qualify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23176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in 4"/>
          <p:cNvSpPr/>
          <p:nvPr/>
        </p:nvSpPr>
        <p:spPr>
          <a:xfrm>
            <a:off x="7324344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936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Expected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+Rs 0.1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74% of revenue is fixed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in 5"/>
          <p:cNvSpPr/>
          <p:nvPr/>
        </p:nvSpPr>
        <p:spPr>
          <a:xfrm>
            <a:off x="9582912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Expected op.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+Rs 16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lower wages + small revenue 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Mega-auction 2028: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with the whole league back in the pool, the same method lifts playoff odds to 73% (strength 28.7 to 31.9).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Read with care: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profit gain is mostly salary saved; revenue barely moves because central income dominates.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RISKS AND MITIGATIONS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Five risks to manage: model blind spots on leadership and youth matter most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analysis; model limitations in docs/methodology.md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Leadership and brand value are not in the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Review high-profile releases (e.g. Phil Salt) with the board; keep the captain even at a premium.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Young players look weak on small samples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Vihaan Malhotra (23 or under) rate low on few balls: keep one as a development bet.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Bidding wars push prices past our ceilings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Hard walk-away ceilings; pre-agreed backups in the same role; plan tested at +30% inflation.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Projected releases may not happen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Several targets depend on rivals releasing them on 15 Nov; re-run the optimiser on the real lists.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Veterans and overseas 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Age 35+ and international clashes: favour one-year deals and carry a like-for-like Indian backup.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Next steps: lock retentions by 15 November, then rehearse the auction against live rival lists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IPL calendar (retention deadline mid-November; auction second week of December 2026, per Business Standard)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Now - 10 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Board review of 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Leadership and youth exceptions; confirm captain</a:t>
            </a:r>
          </a:p>
        </p:txBody>
      </p:sp>
      <p:sp>
        <p:nvSpPr>
          <p:cNvPr id="11" name="Oval 10"/>
          <p:cNvSpPr/>
          <p:nvPr/>
        </p:nvSpPr>
        <p:spPr>
          <a:xfrm>
            <a:off x="2807208" y="2377440"/>
            <a:ext cx="457200" cy="457200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07208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15 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Submit retention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Then load every team's real releases and re-run</a:t>
            </a:r>
          </a:p>
        </p:txBody>
      </p:sp>
      <p:sp>
        <p:nvSpPr>
          <p:cNvPr id="16" name="Oval 15"/>
          <p:cNvSpPr/>
          <p:nvPr/>
        </p:nvSpPr>
        <p:spPr>
          <a:xfrm>
            <a:off x="5065776" y="2377440"/>
            <a:ext cx="457200" cy="457200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68696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65776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16 Nov - 5 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Live simulator, ceilings, backups, rival purses</a:t>
            </a:r>
          </a:p>
        </p:txBody>
      </p:sp>
      <p:sp>
        <p:nvSpPr>
          <p:cNvPr id="21" name="Oval 20"/>
          <p:cNvSpPr/>
          <p:nvPr/>
        </p:nvSpPr>
        <p:spPr>
          <a:xfrm>
            <a:off x="7324344" y="2377440"/>
            <a:ext cx="457200" cy="457200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27264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24344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Dec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Bid to ceilings; switch to backups in real time</a:t>
            </a:r>
          </a:p>
        </p:txBody>
      </p:sp>
      <p:sp>
        <p:nvSpPr>
          <p:cNvPr id="26" name="Oval 25"/>
          <p:cNvSpPr/>
          <p:nvPr/>
        </p:nvSpPr>
        <p:spPr>
          <a:xfrm>
            <a:off x="9582912" y="2377440"/>
            <a:ext cx="457200" cy="457200"/>
          </a:xfrm>
          <a:prstGeom prst="ellipse">
            <a:avLst/>
          </a:prstGeom>
          <a:solidFill>
            <a:srgbClr val="C8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2027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Track and prepare 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Monitor impact; plan the mega-auction retentions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APPENDIX: METHODOLOGY AND ASSUMPTIONS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Appendix: every method is simple enough to explain in one sentence, and every assumption is flagged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docs/methodology.md, docs/sources.md, config/assumptions.yaml, config/rules.yaml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  <a:gridCol w="32004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in one sentence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Main limitation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Runs added per match vs an average player in the same phase/season; wickets valued by run expectancy; small samples shrunk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Ignores fielding, captaincy, opposition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Typical price for the same output, cap status and year (log-price regression, R² 0.30)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Bidding dynamics; unsold players missing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Fair-value model plus previous contract as a reputation proxy (R² 0.38)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Reputation proxy is crude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Role gaps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League rank of the squad's k-th best player per data-driven role (Green / Amber / Red)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Thresholds are judgement calls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Integer program: best-12 value within purse, squad, overseas and role 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Rivals do not react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chain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Strength to win % (R² 0.53), realisation factor, binomial playoff odds, weighted P&amp;L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Next-season forecasts are noisy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Key assumptions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2027 purse Rs 125 cr (unannounced); 2028 rules = 2025 framework; 50% central-revenue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Update when BCCI announces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